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1"/>
  </p:notesMasterIdLst>
  <p:sldIdLst>
    <p:sldId id="256" r:id="rId2"/>
    <p:sldId id="275" r:id="rId3"/>
    <p:sldId id="257" r:id="rId4"/>
    <p:sldId id="258" r:id="rId5"/>
    <p:sldId id="259" r:id="rId6"/>
    <p:sldId id="260" r:id="rId7"/>
    <p:sldId id="261" r:id="rId8"/>
    <p:sldId id="262" r:id="rId9"/>
    <p:sldId id="264" r:id="rId10"/>
    <p:sldId id="266" r:id="rId11"/>
    <p:sldId id="265" r:id="rId12"/>
    <p:sldId id="267" r:id="rId13"/>
    <p:sldId id="269" r:id="rId14"/>
    <p:sldId id="268"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3A510C-13C1-4DC5-81BF-732C73A226DC}" v="7" dt="2024-10-23T16:44:00.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accent3">
        <a:alpha val="0"/>
      </a:schemeClr>
    </dgm:fillClrLst>
    <dgm:linClrLst meth="repeat">
      <a:schemeClr val="accent3">
        <a:alpha val="0"/>
      </a:schemeClr>
    </dgm:linClrLst>
    <dgm:effectClrLst/>
    <dgm:txLinClrLst/>
    <dgm:txFillClrLst meth="repeat">
      <a:schemeClr val="accent3"/>
    </dgm:txFillClrLst>
    <dgm:txEffectClrLst/>
  </dgm:styleLbl>
</dgm:colorsDef>
</file>

<file path=ppt/diagrams/data1.xml><?xml version="1.0" encoding="utf-8"?>
<dgm:dataModel xmlns:dgm="http://schemas.openxmlformats.org/drawingml/2006/diagram" xmlns:a="http://schemas.openxmlformats.org/drawingml/2006/main">
  <dgm:ptLst>
    <dgm:pt modelId="{D2DFF2C9-1D70-4AC8-AC75-932AEFD7775D}"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D0D7E95E-C24C-4ACD-9B55-EE20C96989A3}">
      <dgm:prSet/>
      <dgm:spPr/>
      <dgm:t>
        <a:bodyPr/>
        <a:lstStyle/>
        <a:p>
          <a:r>
            <a:rPr lang="en-US"/>
            <a:t>Microsoft Excel</a:t>
          </a:r>
        </a:p>
      </dgm:t>
    </dgm:pt>
    <dgm:pt modelId="{00D9C26A-ADA8-4D69-9DAD-C068FC18069B}" type="parTrans" cxnId="{E5454084-EBA5-4B6E-90FA-887A1E17700B}">
      <dgm:prSet/>
      <dgm:spPr/>
      <dgm:t>
        <a:bodyPr/>
        <a:lstStyle/>
        <a:p>
          <a:endParaRPr lang="en-US"/>
        </a:p>
      </dgm:t>
    </dgm:pt>
    <dgm:pt modelId="{FC41BCFF-95AD-4E98-BD31-E3D1CFFF5CF7}" type="sibTrans" cxnId="{E5454084-EBA5-4B6E-90FA-887A1E17700B}">
      <dgm:prSet/>
      <dgm:spPr/>
      <dgm:t>
        <a:bodyPr/>
        <a:lstStyle/>
        <a:p>
          <a:endParaRPr lang="en-US"/>
        </a:p>
      </dgm:t>
    </dgm:pt>
    <dgm:pt modelId="{EE10BD70-529B-4CA4-AA6B-A01224909A9C}">
      <dgm:prSet/>
      <dgm:spPr/>
      <dgm:t>
        <a:bodyPr/>
        <a:lstStyle/>
        <a:p>
          <a:r>
            <a:rPr lang="en-US"/>
            <a:t>Microsoft Power Bi</a:t>
          </a:r>
        </a:p>
      </dgm:t>
    </dgm:pt>
    <dgm:pt modelId="{DF7E5973-2765-4C53-918F-73AA39C25415}" type="parTrans" cxnId="{DDE95AC7-8CA6-4874-B7AB-532C49FB2654}">
      <dgm:prSet/>
      <dgm:spPr/>
      <dgm:t>
        <a:bodyPr/>
        <a:lstStyle/>
        <a:p>
          <a:endParaRPr lang="en-US"/>
        </a:p>
      </dgm:t>
    </dgm:pt>
    <dgm:pt modelId="{08917D2E-8F31-48E1-9631-E8861D720572}" type="sibTrans" cxnId="{DDE95AC7-8CA6-4874-B7AB-532C49FB2654}">
      <dgm:prSet/>
      <dgm:spPr/>
      <dgm:t>
        <a:bodyPr/>
        <a:lstStyle/>
        <a:p>
          <a:endParaRPr lang="en-US"/>
        </a:p>
      </dgm:t>
    </dgm:pt>
    <dgm:pt modelId="{5322E075-CE87-484B-93E4-D53D8A5EEDD6}">
      <dgm:prSet/>
      <dgm:spPr/>
      <dgm:t>
        <a:bodyPr/>
        <a:lstStyle/>
        <a:p>
          <a:r>
            <a:rPr lang="en-US"/>
            <a:t>Tableau</a:t>
          </a:r>
        </a:p>
      </dgm:t>
    </dgm:pt>
    <dgm:pt modelId="{DECBE202-5527-4026-BB8C-7ABA36C67655}" type="parTrans" cxnId="{BD3E95FE-72C6-4C5F-9E3A-4F06975AAA68}">
      <dgm:prSet/>
      <dgm:spPr/>
      <dgm:t>
        <a:bodyPr/>
        <a:lstStyle/>
        <a:p>
          <a:endParaRPr lang="en-US"/>
        </a:p>
      </dgm:t>
    </dgm:pt>
    <dgm:pt modelId="{B3B1A081-A5E9-40C2-8043-F655605A7940}" type="sibTrans" cxnId="{BD3E95FE-72C6-4C5F-9E3A-4F06975AAA68}">
      <dgm:prSet/>
      <dgm:spPr/>
      <dgm:t>
        <a:bodyPr/>
        <a:lstStyle/>
        <a:p>
          <a:endParaRPr lang="en-US"/>
        </a:p>
      </dgm:t>
    </dgm:pt>
    <dgm:pt modelId="{671FAA01-C943-453E-A3CA-486D95076608}">
      <dgm:prSet/>
      <dgm:spPr/>
      <dgm:t>
        <a:bodyPr/>
        <a:lstStyle/>
        <a:p>
          <a:r>
            <a:rPr lang="en-US"/>
            <a:t>MYSQL</a:t>
          </a:r>
        </a:p>
      </dgm:t>
    </dgm:pt>
    <dgm:pt modelId="{46EC8BFE-C66E-4880-9D96-FD22F105876E}" type="parTrans" cxnId="{66DFA788-13D3-411C-AEDB-50F3FF7A274E}">
      <dgm:prSet/>
      <dgm:spPr/>
      <dgm:t>
        <a:bodyPr/>
        <a:lstStyle/>
        <a:p>
          <a:endParaRPr lang="en-US"/>
        </a:p>
      </dgm:t>
    </dgm:pt>
    <dgm:pt modelId="{6C8579E2-ADB1-415D-9AE1-4573BDA9964F}" type="sibTrans" cxnId="{66DFA788-13D3-411C-AEDB-50F3FF7A274E}">
      <dgm:prSet/>
      <dgm:spPr/>
      <dgm:t>
        <a:bodyPr/>
        <a:lstStyle/>
        <a:p>
          <a:endParaRPr lang="en-US"/>
        </a:p>
      </dgm:t>
    </dgm:pt>
    <dgm:pt modelId="{B13DDBAD-BA2F-40DE-910C-D4B81948200E}" type="pres">
      <dgm:prSet presAssocID="{D2DFF2C9-1D70-4AC8-AC75-932AEFD7775D}" presName="matrix" presStyleCnt="0">
        <dgm:presLayoutVars>
          <dgm:chMax val="1"/>
          <dgm:dir/>
          <dgm:resizeHandles val="exact"/>
        </dgm:presLayoutVars>
      </dgm:prSet>
      <dgm:spPr/>
    </dgm:pt>
    <dgm:pt modelId="{349F87B3-5D0D-489C-94C4-5DFB190AC04F}" type="pres">
      <dgm:prSet presAssocID="{D2DFF2C9-1D70-4AC8-AC75-932AEFD7775D}" presName="diamond" presStyleLbl="bgShp" presStyleIdx="0" presStyleCnt="1"/>
      <dgm:spPr/>
    </dgm:pt>
    <dgm:pt modelId="{3798B651-32CB-4B26-8C3C-669114A27C24}" type="pres">
      <dgm:prSet presAssocID="{D2DFF2C9-1D70-4AC8-AC75-932AEFD7775D}" presName="quad1" presStyleLbl="node1" presStyleIdx="0" presStyleCnt="4">
        <dgm:presLayoutVars>
          <dgm:chMax val="0"/>
          <dgm:chPref val="0"/>
          <dgm:bulletEnabled val="1"/>
        </dgm:presLayoutVars>
      </dgm:prSet>
      <dgm:spPr/>
    </dgm:pt>
    <dgm:pt modelId="{2205B889-BEFD-4BDE-A023-FE5A81F443DD}" type="pres">
      <dgm:prSet presAssocID="{D2DFF2C9-1D70-4AC8-AC75-932AEFD7775D}" presName="quad2" presStyleLbl="node1" presStyleIdx="1" presStyleCnt="4">
        <dgm:presLayoutVars>
          <dgm:chMax val="0"/>
          <dgm:chPref val="0"/>
          <dgm:bulletEnabled val="1"/>
        </dgm:presLayoutVars>
      </dgm:prSet>
      <dgm:spPr/>
    </dgm:pt>
    <dgm:pt modelId="{D1B36EAE-F3F6-4F33-9314-59E92BA068A8}" type="pres">
      <dgm:prSet presAssocID="{D2DFF2C9-1D70-4AC8-AC75-932AEFD7775D}" presName="quad3" presStyleLbl="node1" presStyleIdx="2" presStyleCnt="4">
        <dgm:presLayoutVars>
          <dgm:chMax val="0"/>
          <dgm:chPref val="0"/>
          <dgm:bulletEnabled val="1"/>
        </dgm:presLayoutVars>
      </dgm:prSet>
      <dgm:spPr/>
    </dgm:pt>
    <dgm:pt modelId="{D2BC9F88-522C-4912-9B51-274D71EB65FD}" type="pres">
      <dgm:prSet presAssocID="{D2DFF2C9-1D70-4AC8-AC75-932AEFD7775D}" presName="quad4" presStyleLbl="node1" presStyleIdx="3" presStyleCnt="4">
        <dgm:presLayoutVars>
          <dgm:chMax val="0"/>
          <dgm:chPref val="0"/>
          <dgm:bulletEnabled val="1"/>
        </dgm:presLayoutVars>
      </dgm:prSet>
      <dgm:spPr/>
    </dgm:pt>
  </dgm:ptLst>
  <dgm:cxnLst>
    <dgm:cxn modelId="{FE500C09-22D5-4A1C-B179-6DD64AD02E55}" type="presOf" srcId="{671FAA01-C943-453E-A3CA-486D95076608}" destId="{D2BC9F88-522C-4912-9B51-274D71EB65FD}" srcOrd="0" destOrd="0" presId="urn:microsoft.com/office/officeart/2005/8/layout/matrix3"/>
    <dgm:cxn modelId="{B2FFE261-BCEE-4D63-BEDF-F473BCFFB8CD}" type="presOf" srcId="{D2DFF2C9-1D70-4AC8-AC75-932AEFD7775D}" destId="{B13DDBAD-BA2F-40DE-910C-D4B81948200E}" srcOrd="0" destOrd="0" presId="urn:microsoft.com/office/officeart/2005/8/layout/matrix3"/>
    <dgm:cxn modelId="{2DB65271-F567-4FAD-8E4B-1E09EAF9C946}" type="presOf" srcId="{EE10BD70-529B-4CA4-AA6B-A01224909A9C}" destId="{2205B889-BEFD-4BDE-A023-FE5A81F443DD}" srcOrd="0" destOrd="0" presId="urn:microsoft.com/office/officeart/2005/8/layout/matrix3"/>
    <dgm:cxn modelId="{E5454084-EBA5-4B6E-90FA-887A1E17700B}" srcId="{D2DFF2C9-1D70-4AC8-AC75-932AEFD7775D}" destId="{D0D7E95E-C24C-4ACD-9B55-EE20C96989A3}" srcOrd="0" destOrd="0" parTransId="{00D9C26A-ADA8-4D69-9DAD-C068FC18069B}" sibTransId="{FC41BCFF-95AD-4E98-BD31-E3D1CFFF5CF7}"/>
    <dgm:cxn modelId="{66DFA788-13D3-411C-AEDB-50F3FF7A274E}" srcId="{D2DFF2C9-1D70-4AC8-AC75-932AEFD7775D}" destId="{671FAA01-C943-453E-A3CA-486D95076608}" srcOrd="3" destOrd="0" parTransId="{46EC8BFE-C66E-4880-9D96-FD22F105876E}" sibTransId="{6C8579E2-ADB1-415D-9AE1-4573BDA9964F}"/>
    <dgm:cxn modelId="{C6F8C194-3924-49FE-8AFA-020417E15CAB}" type="presOf" srcId="{5322E075-CE87-484B-93E4-D53D8A5EEDD6}" destId="{D1B36EAE-F3F6-4F33-9314-59E92BA068A8}" srcOrd="0" destOrd="0" presId="urn:microsoft.com/office/officeart/2005/8/layout/matrix3"/>
    <dgm:cxn modelId="{1F003E9C-1386-4305-9C98-23532361160D}" type="presOf" srcId="{D0D7E95E-C24C-4ACD-9B55-EE20C96989A3}" destId="{3798B651-32CB-4B26-8C3C-669114A27C24}" srcOrd="0" destOrd="0" presId="urn:microsoft.com/office/officeart/2005/8/layout/matrix3"/>
    <dgm:cxn modelId="{DDE95AC7-8CA6-4874-B7AB-532C49FB2654}" srcId="{D2DFF2C9-1D70-4AC8-AC75-932AEFD7775D}" destId="{EE10BD70-529B-4CA4-AA6B-A01224909A9C}" srcOrd="1" destOrd="0" parTransId="{DF7E5973-2765-4C53-918F-73AA39C25415}" sibTransId="{08917D2E-8F31-48E1-9631-E8861D720572}"/>
    <dgm:cxn modelId="{BD3E95FE-72C6-4C5F-9E3A-4F06975AAA68}" srcId="{D2DFF2C9-1D70-4AC8-AC75-932AEFD7775D}" destId="{5322E075-CE87-484B-93E4-D53D8A5EEDD6}" srcOrd="2" destOrd="0" parTransId="{DECBE202-5527-4026-BB8C-7ABA36C67655}" sibTransId="{B3B1A081-A5E9-40C2-8043-F655605A7940}"/>
    <dgm:cxn modelId="{6281DE19-1D55-4BD2-9322-DDD2BD96B801}" type="presParOf" srcId="{B13DDBAD-BA2F-40DE-910C-D4B81948200E}" destId="{349F87B3-5D0D-489C-94C4-5DFB190AC04F}" srcOrd="0" destOrd="0" presId="urn:microsoft.com/office/officeart/2005/8/layout/matrix3"/>
    <dgm:cxn modelId="{D59D2C27-FFB8-45C7-89F3-A36F80FEA462}" type="presParOf" srcId="{B13DDBAD-BA2F-40DE-910C-D4B81948200E}" destId="{3798B651-32CB-4B26-8C3C-669114A27C24}" srcOrd="1" destOrd="0" presId="urn:microsoft.com/office/officeart/2005/8/layout/matrix3"/>
    <dgm:cxn modelId="{524B9D8E-13BD-4EC6-902D-8AE8A7490640}" type="presParOf" srcId="{B13DDBAD-BA2F-40DE-910C-D4B81948200E}" destId="{2205B889-BEFD-4BDE-A023-FE5A81F443DD}" srcOrd="2" destOrd="0" presId="urn:microsoft.com/office/officeart/2005/8/layout/matrix3"/>
    <dgm:cxn modelId="{9FB2A5C1-78EB-4AF0-BC5A-7B2C013C289B}" type="presParOf" srcId="{B13DDBAD-BA2F-40DE-910C-D4B81948200E}" destId="{D1B36EAE-F3F6-4F33-9314-59E92BA068A8}" srcOrd="3" destOrd="0" presId="urn:microsoft.com/office/officeart/2005/8/layout/matrix3"/>
    <dgm:cxn modelId="{85CB0418-2243-49E0-B680-68EF167820DC}" type="presParOf" srcId="{B13DDBAD-BA2F-40DE-910C-D4B81948200E}" destId="{D2BC9F88-522C-4912-9B51-274D71EB65F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A1AABE-123F-4E5E-917C-F8F82C8F099D}" type="doc">
      <dgm:prSet loTypeId="urn:microsoft.com/office/officeart/2018/5/layout/IconLeafLabelList" loCatId="icon" qsTypeId="urn:microsoft.com/office/officeart/2005/8/quickstyle/simple1" qsCatId="simple" csTypeId="urn:microsoft.com/office/officeart/2018/5/colors/Iconchunking_coloredtext_accent3_2" csCatId="accent3" phldr="1"/>
      <dgm:spPr/>
      <dgm:t>
        <a:bodyPr/>
        <a:lstStyle/>
        <a:p>
          <a:endParaRPr lang="en-US"/>
        </a:p>
      </dgm:t>
    </dgm:pt>
    <dgm:pt modelId="{E27AA089-1CC8-4294-ACEE-AEC453FC3C87}">
      <dgm:prSet/>
      <dgm:spPr/>
      <dgm:t>
        <a:bodyPr/>
        <a:lstStyle/>
        <a:p>
          <a:pPr>
            <a:defRPr cap="all"/>
          </a:pPr>
          <a:r>
            <a:rPr lang="en-US"/>
            <a:t>1. Extract Data/Import Files </a:t>
          </a:r>
        </a:p>
      </dgm:t>
    </dgm:pt>
    <dgm:pt modelId="{0399EA68-FF15-4779-9BB8-009598EB3EF7}" type="parTrans" cxnId="{D784116C-5F58-4A87-B9FB-1F270B04836B}">
      <dgm:prSet/>
      <dgm:spPr/>
      <dgm:t>
        <a:bodyPr/>
        <a:lstStyle/>
        <a:p>
          <a:endParaRPr lang="en-US"/>
        </a:p>
      </dgm:t>
    </dgm:pt>
    <dgm:pt modelId="{C6F679B7-8F3C-4492-9971-B569A3D15A16}" type="sibTrans" cxnId="{D784116C-5F58-4A87-B9FB-1F270B04836B}">
      <dgm:prSet/>
      <dgm:spPr/>
      <dgm:t>
        <a:bodyPr/>
        <a:lstStyle/>
        <a:p>
          <a:endParaRPr lang="en-US"/>
        </a:p>
      </dgm:t>
    </dgm:pt>
    <dgm:pt modelId="{9680A1E6-311B-4B5C-B90B-AFCCC0F887A8}">
      <dgm:prSet/>
      <dgm:spPr/>
      <dgm:t>
        <a:bodyPr/>
        <a:lstStyle/>
        <a:p>
          <a:pPr>
            <a:defRPr cap="all"/>
          </a:pPr>
          <a:r>
            <a:rPr lang="en-US"/>
            <a:t>2. Transform Data (remove blank and duplicates) </a:t>
          </a:r>
        </a:p>
      </dgm:t>
    </dgm:pt>
    <dgm:pt modelId="{97F0572E-1A69-48EB-95F3-64E97A5574A9}" type="parTrans" cxnId="{FB84CD5F-6440-4838-ADE2-83CC246F6A24}">
      <dgm:prSet/>
      <dgm:spPr/>
      <dgm:t>
        <a:bodyPr/>
        <a:lstStyle/>
        <a:p>
          <a:endParaRPr lang="en-US"/>
        </a:p>
      </dgm:t>
    </dgm:pt>
    <dgm:pt modelId="{A5CC0037-94E6-496F-B0EA-9E795A30C671}" type="sibTrans" cxnId="{FB84CD5F-6440-4838-ADE2-83CC246F6A24}">
      <dgm:prSet/>
      <dgm:spPr/>
      <dgm:t>
        <a:bodyPr/>
        <a:lstStyle/>
        <a:p>
          <a:endParaRPr lang="en-US"/>
        </a:p>
      </dgm:t>
    </dgm:pt>
    <dgm:pt modelId="{DE4772BE-ED38-49BF-99C0-BFFC146EE7E4}">
      <dgm:prSet/>
      <dgm:spPr/>
      <dgm:t>
        <a:bodyPr/>
        <a:lstStyle/>
        <a:p>
          <a:pPr>
            <a:defRPr cap="all"/>
          </a:pPr>
          <a:r>
            <a:rPr lang="en-US"/>
            <a:t>3. Manage Relationships </a:t>
          </a:r>
        </a:p>
      </dgm:t>
    </dgm:pt>
    <dgm:pt modelId="{BBFDC899-01AA-4920-AF79-9D10521D5318}" type="parTrans" cxnId="{B77C2C62-ED95-4DE4-9D09-CBBB5E3B8F27}">
      <dgm:prSet/>
      <dgm:spPr/>
      <dgm:t>
        <a:bodyPr/>
        <a:lstStyle/>
        <a:p>
          <a:endParaRPr lang="en-US"/>
        </a:p>
      </dgm:t>
    </dgm:pt>
    <dgm:pt modelId="{0A354775-B156-409E-960A-A956FCC9FE7C}" type="sibTrans" cxnId="{B77C2C62-ED95-4DE4-9D09-CBBB5E3B8F27}">
      <dgm:prSet/>
      <dgm:spPr/>
      <dgm:t>
        <a:bodyPr/>
        <a:lstStyle/>
        <a:p>
          <a:endParaRPr lang="en-US"/>
        </a:p>
      </dgm:t>
    </dgm:pt>
    <dgm:pt modelId="{546CD989-3BC7-4D68-ABBB-7570263C5209}">
      <dgm:prSet/>
      <dgm:spPr/>
      <dgm:t>
        <a:bodyPr/>
        <a:lstStyle/>
        <a:p>
          <a:pPr>
            <a:defRPr cap="all"/>
          </a:pPr>
          <a:r>
            <a:rPr lang="en-US"/>
            <a:t>4. KPI and Visualization</a:t>
          </a:r>
        </a:p>
      </dgm:t>
    </dgm:pt>
    <dgm:pt modelId="{232F2569-FFC0-4736-A417-D79048887D3C}" type="parTrans" cxnId="{DABB1427-18B7-4BF8-8F24-D7F52B4D3BA2}">
      <dgm:prSet/>
      <dgm:spPr/>
      <dgm:t>
        <a:bodyPr/>
        <a:lstStyle/>
        <a:p>
          <a:endParaRPr lang="en-US"/>
        </a:p>
      </dgm:t>
    </dgm:pt>
    <dgm:pt modelId="{56847C29-C34F-4DEF-95CD-AA349E14E59B}" type="sibTrans" cxnId="{DABB1427-18B7-4BF8-8F24-D7F52B4D3BA2}">
      <dgm:prSet/>
      <dgm:spPr/>
      <dgm:t>
        <a:bodyPr/>
        <a:lstStyle/>
        <a:p>
          <a:endParaRPr lang="en-US"/>
        </a:p>
      </dgm:t>
    </dgm:pt>
    <dgm:pt modelId="{9BA1C5CB-CDEE-4129-A0D9-C35266E2A4D3}">
      <dgm:prSet/>
      <dgm:spPr/>
      <dgm:t>
        <a:bodyPr/>
        <a:lstStyle/>
        <a:p>
          <a:pPr>
            <a:defRPr cap="all"/>
          </a:pPr>
          <a:r>
            <a:rPr lang="en-US"/>
            <a:t>5. Dashboard</a:t>
          </a:r>
        </a:p>
      </dgm:t>
    </dgm:pt>
    <dgm:pt modelId="{DB96B3E7-82A5-4893-8BFC-2AD7B44F3DDD}" type="parTrans" cxnId="{DED7ACCB-C25D-41E6-9D18-6DD4091935B7}">
      <dgm:prSet/>
      <dgm:spPr/>
      <dgm:t>
        <a:bodyPr/>
        <a:lstStyle/>
        <a:p>
          <a:endParaRPr lang="en-US"/>
        </a:p>
      </dgm:t>
    </dgm:pt>
    <dgm:pt modelId="{F75E6A5E-FE6B-4AE5-8BBF-C355DB5FBA53}" type="sibTrans" cxnId="{DED7ACCB-C25D-41E6-9D18-6DD4091935B7}">
      <dgm:prSet/>
      <dgm:spPr/>
      <dgm:t>
        <a:bodyPr/>
        <a:lstStyle/>
        <a:p>
          <a:endParaRPr lang="en-US"/>
        </a:p>
      </dgm:t>
    </dgm:pt>
    <dgm:pt modelId="{09CD3CF0-7274-4271-8959-D0531CBA9F39}" type="pres">
      <dgm:prSet presAssocID="{FEA1AABE-123F-4E5E-917C-F8F82C8F099D}" presName="root" presStyleCnt="0">
        <dgm:presLayoutVars>
          <dgm:dir/>
          <dgm:resizeHandles val="exact"/>
        </dgm:presLayoutVars>
      </dgm:prSet>
      <dgm:spPr/>
    </dgm:pt>
    <dgm:pt modelId="{A0C74C5C-F7FB-4354-B090-8CFECEE33D3B}" type="pres">
      <dgm:prSet presAssocID="{E27AA089-1CC8-4294-ACEE-AEC453FC3C87}" presName="compNode" presStyleCnt="0"/>
      <dgm:spPr/>
    </dgm:pt>
    <dgm:pt modelId="{C0606BB7-9D45-48C1-BA3D-AB23D32889DE}" type="pres">
      <dgm:prSet presAssocID="{E27AA089-1CC8-4294-ACEE-AEC453FC3C87}" presName="iconBgRect" presStyleLbl="bgShp" presStyleIdx="0" presStyleCnt="5"/>
      <dgm:spPr>
        <a:prstGeom prst="round2DiagRect">
          <a:avLst>
            <a:gd name="adj1" fmla="val 29727"/>
            <a:gd name="adj2" fmla="val 0"/>
          </a:avLst>
        </a:prstGeom>
      </dgm:spPr>
    </dgm:pt>
    <dgm:pt modelId="{FA0A221B-42DE-4505-9E18-718CDB3C185F}" type="pres">
      <dgm:prSet presAssocID="{E27AA089-1CC8-4294-ACEE-AEC453FC3C8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6E01BB8C-6FDD-42F8-85E0-240AFA6AA513}" type="pres">
      <dgm:prSet presAssocID="{E27AA089-1CC8-4294-ACEE-AEC453FC3C87}" presName="spaceRect" presStyleCnt="0"/>
      <dgm:spPr/>
    </dgm:pt>
    <dgm:pt modelId="{704118E3-1C35-4AEA-9F2C-EE0B648C2C09}" type="pres">
      <dgm:prSet presAssocID="{E27AA089-1CC8-4294-ACEE-AEC453FC3C87}" presName="textRect" presStyleLbl="revTx" presStyleIdx="0" presStyleCnt="5">
        <dgm:presLayoutVars>
          <dgm:chMax val="1"/>
          <dgm:chPref val="1"/>
        </dgm:presLayoutVars>
      </dgm:prSet>
      <dgm:spPr/>
    </dgm:pt>
    <dgm:pt modelId="{FAE91517-8EFB-4DAE-9785-D40C77DA05EB}" type="pres">
      <dgm:prSet presAssocID="{C6F679B7-8F3C-4492-9971-B569A3D15A16}" presName="sibTrans" presStyleCnt="0"/>
      <dgm:spPr/>
    </dgm:pt>
    <dgm:pt modelId="{DCB782E8-12F1-42D3-903B-17E091254D4B}" type="pres">
      <dgm:prSet presAssocID="{9680A1E6-311B-4B5C-B90B-AFCCC0F887A8}" presName="compNode" presStyleCnt="0"/>
      <dgm:spPr/>
    </dgm:pt>
    <dgm:pt modelId="{BE5F8DC9-6C47-4699-B33F-F9BAFEE499AF}" type="pres">
      <dgm:prSet presAssocID="{9680A1E6-311B-4B5C-B90B-AFCCC0F887A8}" presName="iconBgRect" presStyleLbl="bgShp" presStyleIdx="1" presStyleCnt="5"/>
      <dgm:spPr>
        <a:prstGeom prst="round2DiagRect">
          <a:avLst>
            <a:gd name="adj1" fmla="val 29727"/>
            <a:gd name="adj2" fmla="val 0"/>
          </a:avLst>
        </a:prstGeom>
      </dgm:spPr>
    </dgm:pt>
    <dgm:pt modelId="{039D8E3B-7051-4694-8B2F-B6653DA6821E}" type="pres">
      <dgm:prSet presAssocID="{9680A1E6-311B-4B5C-B90B-AFCCC0F887A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E23C2AEC-65BB-41E9-B1EB-8529DF5EBBCA}" type="pres">
      <dgm:prSet presAssocID="{9680A1E6-311B-4B5C-B90B-AFCCC0F887A8}" presName="spaceRect" presStyleCnt="0"/>
      <dgm:spPr/>
    </dgm:pt>
    <dgm:pt modelId="{4A4081DF-9F05-492C-A4B1-DD8D923DC6AE}" type="pres">
      <dgm:prSet presAssocID="{9680A1E6-311B-4B5C-B90B-AFCCC0F887A8}" presName="textRect" presStyleLbl="revTx" presStyleIdx="1" presStyleCnt="5">
        <dgm:presLayoutVars>
          <dgm:chMax val="1"/>
          <dgm:chPref val="1"/>
        </dgm:presLayoutVars>
      </dgm:prSet>
      <dgm:spPr/>
    </dgm:pt>
    <dgm:pt modelId="{283DAD0C-9586-4D29-B962-F0E111569423}" type="pres">
      <dgm:prSet presAssocID="{A5CC0037-94E6-496F-B0EA-9E795A30C671}" presName="sibTrans" presStyleCnt="0"/>
      <dgm:spPr/>
    </dgm:pt>
    <dgm:pt modelId="{7C6FE95E-FD27-43F1-88A0-0C41DA2AB0F0}" type="pres">
      <dgm:prSet presAssocID="{DE4772BE-ED38-49BF-99C0-BFFC146EE7E4}" presName="compNode" presStyleCnt="0"/>
      <dgm:spPr/>
    </dgm:pt>
    <dgm:pt modelId="{902D79B0-20EA-48A9-AB10-FF9DF95B4BC5}" type="pres">
      <dgm:prSet presAssocID="{DE4772BE-ED38-49BF-99C0-BFFC146EE7E4}" presName="iconBgRect" presStyleLbl="bgShp" presStyleIdx="2" presStyleCnt="5"/>
      <dgm:spPr>
        <a:prstGeom prst="round2DiagRect">
          <a:avLst>
            <a:gd name="adj1" fmla="val 29727"/>
            <a:gd name="adj2" fmla="val 0"/>
          </a:avLst>
        </a:prstGeom>
      </dgm:spPr>
    </dgm:pt>
    <dgm:pt modelId="{C72235BA-DBEC-45D0-92F4-D3AE1F657227}" type="pres">
      <dgm:prSet presAssocID="{DE4772BE-ED38-49BF-99C0-BFFC146EE7E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4C7837CC-2209-4D85-A655-70A1ED339A7E}" type="pres">
      <dgm:prSet presAssocID="{DE4772BE-ED38-49BF-99C0-BFFC146EE7E4}" presName="spaceRect" presStyleCnt="0"/>
      <dgm:spPr/>
    </dgm:pt>
    <dgm:pt modelId="{279B836D-1AB1-4D0D-8455-DD717A31019C}" type="pres">
      <dgm:prSet presAssocID="{DE4772BE-ED38-49BF-99C0-BFFC146EE7E4}" presName="textRect" presStyleLbl="revTx" presStyleIdx="2" presStyleCnt="5">
        <dgm:presLayoutVars>
          <dgm:chMax val="1"/>
          <dgm:chPref val="1"/>
        </dgm:presLayoutVars>
      </dgm:prSet>
      <dgm:spPr/>
    </dgm:pt>
    <dgm:pt modelId="{F53E1E39-B18E-4CB3-A2FA-9033BAE526E3}" type="pres">
      <dgm:prSet presAssocID="{0A354775-B156-409E-960A-A956FCC9FE7C}" presName="sibTrans" presStyleCnt="0"/>
      <dgm:spPr/>
    </dgm:pt>
    <dgm:pt modelId="{62630203-1D8C-4191-880A-D0AF1ADF6F50}" type="pres">
      <dgm:prSet presAssocID="{546CD989-3BC7-4D68-ABBB-7570263C5209}" presName="compNode" presStyleCnt="0"/>
      <dgm:spPr/>
    </dgm:pt>
    <dgm:pt modelId="{E7DFF5A2-282B-4450-8617-6780F1D3D31D}" type="pres">
      <dgm:prSet presAssocID="{546CD989-3BC7-4D68-ABBB-7570263C5209}" presName="iconBgRect" presStyleLbl="bgShp" presStyleIdx="3" presStyleCnt="5"/>
      <dgm:spPr>
        <a:prstGeom prst="round2DiagRect">
          <a:avLst>
            <a:gd name="adj1" fmla="val 29727"/>
            <a:gd name="adj2" fmla="val 0"/>
          </a:avLst>
        </a:prstGeom>
      </dgm:spPr>
    </dgm:pt>
    <dgm:pt modelId="{E4CE262B-604E-412E-B447-24EB3DA6F9DC}" type="pres">
      <dgm:prSet presAssocID="{546CD989-3BC7-4D68-ABBB-7570263C520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FD3F46BD-82F3-492C-AAD3-E028FBCBD105}" type="pres">
      <dgm:prSet presAssocID="{546CD989-3BC7-4D68-ABBB-7570263C5209}" presName="spaceRect" presStyleCnt="0"/>
      <dgm:spPr/>
    </dgm:pt>
    <dgm:pt modelId="{6909AC2D-B9B4-4F59-8F5A-B0D0A9438A94}" type="pres">
      <dgm:prSet presAssocID="{546CD989-3BC7-4D68-ABBB-7570263C5209}" presName="textRect" presStyleLbl="revTx" presStyleIdx="3" presStyleCnt="5">
        <dgm:presLayoutVars>
          <dgm:chMax val="1"/>
          <dgm:chPref val="1"/>
        </dgm:presLayoutVars>
      </dgm:prSet>
      <dgm:spPr/>
    </dgm:pt>
    <dgm:pt modelId="{7624C5E7-7496-44E8-AAB8-B042F8EF17E7}" type="pres">
      <dgm:prSet presAssocID="{56847C29-C34F-4DEF-95CD-AA349E14E59B}" presName="sibTrans" presStyleCnt="0"/>
      <dgm:spPr/>
    </dgm:pt>
    <dgm:pt modelId="{BDCD2864-CFE1-4C83-8A25-A2A67971D5B1}" type="pres">
      <dgm:prSet presAssocID="{9BA1C5CB-CDEE-4129-A0D9-C35266E2A4D3}" presName="compNode" presStyleCnt="0"/>
      <dgm:spPr/>
    </dgm:pt>
    <dgm:pt modelId="{979DFB62-5117-424C-8FCA-C9C08CFC96BA}" type="pres">
      <dgm:prSet presAssocID="{9BA1C5CB-CDEE-4129-A0D9-C35266E2A4D3}" presName="iconBgRect" presStyleLbl="bgShp" presStyleIdx="4" presStyleCnt="5"/>
      <dgm:spPr>
        <a:prstGeom prst="round2DiagRect">
          <a:avLst>
            <a:gd name="adj1" fmla="val 29727"/>
            <a:gd name="adj2" fmla="val 0"/>
          </a:avLst>
        </a:prstGeom>
      </dgm:spPr>
    </dgm:pt>
    <dgm:pt modelId="{0AA8749E-E126-4C38-8F29-115DC8165F43}" type="pres">
      <dgm:prSet presAssocID="{9BA1C5CB-CDEE-4129-A0D9-C35266E2A4D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uge"/>
        </a:ext>
      </dgm:extLst>
    </dgm:pt>
    <dgm:pt modelId="{C59F20BC-FEF2-432D-BD83-BBC30C0C3628}" type="pres">
      <dgm:prSet presAssocID="{9BA1C5CB-CDEE-4129-A0D9-C35266E2A4D3}" presName="spaceRect" presStyleCnt="0"/>
      <dgm:spPr/>
    </dgm:pt>
    <dgm:pt modelId="{7949AA93-C4FE-4D08-B1B6-BB390278217D}" type="pres">
      <dgm:prSet presAssocID="{9BA1C5CB-CDEE-4129-A0D9-C35266E2A4D3}" presName="textRect" presStyleLbl="revTx" presStyleIdx="4" presStyleCnt="5">
        <dgm:presLayoutVars>
          <dgm:chMax val="1"/>
          <dgm:chPref val="1"/>
        </dgm:presLayoutVars>
      </dgm:prSet>
      <dgm:spPr/>
    </dgm:pt>
  </dgm:ptLst>
  <dgm:cxnLst>
    <dgm:cxn modelId="{9AFB3D15-5135-4A4D-BD99-76D814CE5C07}" type="presOf" srcId="{546CD989-3BC7-4D68-ABBB-7570263C5209}" destId="{6909AC2D-B9B4-4F59-8F5A-B0D0A9438A94}" srcOrd="0" destOrd="0" presId="urn:microsoft.com/office/officeart/2018/5/layout/IconLeafLabelList"/>
    <dgm:cxn modelId="{DABB1427-18B7-4BF8-8F24-D7F52B4D3BA2}" srcId="{FEA1AABE-123F-4E5E-917C-F8F82C8F099D}" destId="{546CD989-3BC7-4D68-ABBB-7570263C5209}" srcOrd="3" destOrd="0" parTransId="{232F2569-FFC0-4736-A417-D79048887D3C}" sibTransId="{56847C29-C34F-4DEF-95CD-AA349E14E59B}"/>
    <dgm:cxn modelId="{FB84CD5F-6440-4838-ADE2-83CC246F6A24}" srcId="{FEA1AABE-123F-4E5E-917C-F8F82C8F099D}" destId="{9680A1E6-311B-4B5C-B90B-AFCCC0F887A8}" srcOrd="1" destOrd="0" parTransId="{97F0572E-1A69-48EB-95F3-64E97A5574A9}" sibTransId="{A5CC0037-94E6-496F-B0EA-9E795A30C671}"/>
    <dgm:cxn modelId="{B77C2C62-ED95-4DE4-9D09-CBBB5E3B8F27}" srcId="{FEA1AABE-123F-4E5E-917C-F8F82C8F099D}" destId="{DE4772BE-ED38-49BF-99C0-BFFC146EE7E4}" srcOrd="2" destOrd="0" parTransId="{BBFDC899-01AA-4920-AF79-9D10521D5318}" sibTransId="{0A354775-B156-409E-960A-A956FCC9FE7C}"/>
    <dgm:cxn modelId="{5D390549-4A7D-4168-A479-CBE8F8453EFA}" type="presOf" srcId="{FEA1AABE-123F-4E5E-917C-F8F82C8F099D}" destId="{09CD3CF0-7274-4271-8959-D0531CBA9F39}" srcOrd="0" destOrd="0" presId="urn:microsoft.com/office/officeart/2018/5/layout/IconLeafLabelList"/>
    <dgm:cxn modelId="{D784116C-5F58-4A87-B9FB-1F270B04836B}" srcId="{FEA1AABE-123F-4E5E-917C-F8F82C8F099D}" destId="{E27AA089-1CC8-4294-ACEE-AEC453FC3C87}" srcOrd="0" destOrd="0" parTransId="{0399EA68-FF15-4779-9BB8-009598EB3EF7}" sibTransId="{C6F679B7-8F3C-4492-9971-B569A3D15A16}"/>
    <dgm:cxn modelId="{163227A7-965B-45DA-A720-D30BA8FF813E}" type="presOf" srcId="{9680A1E6-311B-4B5C-B90B-AFCCC0F887A8}" destId="{4A4081DF-9F05-492C-A4B1-DD8D923DC6AE}" srcOrd="0" destOrd="0" presId="urn:microsoft.com/office/officeart/2018/5/layout/IconLeafLabelList"/>
    <dgm:cxn modelId="{C5F8C2BF-973B-4E27-ACC5-66168522B064}" type="presOf" srcId="{DE4772BE-ED38-49BF-99C0-BFFC146EE7E4}" destId="{279B836D-1AB1-4D0D-8455-DD717A31019C}" srcOrd="0" destOrd="0" presId="urn:microsoft.com/office/officeart/2018/5/layout/IconLeafLabelList"/>
    <dgm:cxn modelId="{DED7ACCB-C25D-41E6-9D18-6DD4091935B7}" srcId="{FEA1AABE-123F-4E5E-917C-F8F82C8F099D}" destId="{9BA1C5CB-CDEE-4129-A0D9-C35266E2A4D3}" srcOrd="4" destOrd="0" parTransId="{DB96B3E7-82A5-4893-8BFC-2AD7B44F3DDD}" sibTransId="{F75E6A5E-FE6B-4AE5-8BBF-C355DB5FBA53}"/>
    <dgm:cxn modelId="{2AA9E0EA-E77E-4787-A0AA-2B1704CC5746}" type="presOf" srcId="{E27AA089-1CC8-4294-ACEE-AEC453FC3C87}" destId="{704118E3-1C35-4AEA-9F2C-EE0B648C2C09}" srcOrd="0" destOrd="0" presId="urn:microsoft.com/office/officeart/2018/5/layout/IconLeafLabelList"/>
    <dgm:cxn modelId="{BD1471F8-A0CD-4FFE-89BD-E3381E0D1819}" type="presOf" srcId="{9BA1C5CB-CDEE-4129-A0D9-C35266E2A4D3}" destId="{7949AA93-C4FE-4D08-B1B6-BB390278217D}" srcOrd="0" destOrd="0" presId="urn:microsoft.com/office/officeart/2018/5/layout/IconLeafLabelList"/>
    <dgm:cxn modelId="{5D280768-0BC2-45C2-AA80-23EC604BEC8A}" type="presParOf" srcId="{09CD3CF0-7274-4271-8959-D0531CBA9F39}" destId="{A0C74C5C-F7FB-4354-B090-8CFECEE33D3B}" srcOrd="0" destOrd="0" presId="urn:microsoft.com/office/officeart/2018/5/layout/IconLeafLabelList"/>
    <dgm:cxn modelId="{B643472C-60BA-4C61-9901-61E9507A2F88}" type="presParOf" srcId="{A0C74C5C-F7FB-4354-B090-8CFECEE33D3B}" destId="{C0606BB7-9D45-48C1-BA3D-AB23D32889DE}" srcOrd="0" destOrd="0" presId="urn:microsoft.com/office/officeart/2018/5/layout/IconLeafLabelList"/>
    <dgm:cxn modelId="{AC8B7080-2B9D-4F2D-A9A6-84C330A71BB0}" type="presParOf" srcId="{A0C74C5C-F7FB-4354-B090-8CFECEE33D3B}" destId="{FA0A221B-42DE-4505-9E18-718CDB3C185F}" srcOrd="1" destOrd="0" presId="urn:microsoft.com/office/officeart/2018/5/layout/IconLeafLabelList"/>
    <dgm:cxn modelId="{4A6ABEBA-85D3-4D4F-900E-DDF83403AC2D}" type="presParOf" srcId="{A0C74C5C-F7FB-4354-B090-8CFECEE33D3B}" destId="{6E01BB8C-6FDD-42F8-85E0-240AFA6AA513}" srcOrd="2" destOrd="0" presId="urn:microsoft.com/office/officeart/2018/5/layout/IconLeafLabelList"/>
    <dgm:cxn modelId="{800BEBA8-1AA7-4A41-9015-1E51F77CDEFE}" type="presParOf" srcId="{A0C74C5C-F7FB-4354-B090-8CFECEE33D3B}" destId="{704118E3-1C35-4AEA-9F2C-EE0B648C2C09}" srcOrd="3" destOrd="0" presId="urn:microsoft.com/office/officeart/2018/5/layout/IconLeafLabelList"/>
    <dgm:cxn modelId="{88C258E4-0ADB-4563-9921-9C5667F235A1}" type="presParOf" srcId="{09CD3CF0-7274-4271-8959-D0531CBA9F39}" destId="{FAE91517-8EFB-4DAE-9785-D40C77DA05EB}" srcOrd="1" destOrd="0" presId="urn:microsoft.com/office/officeart/2018/5/layout/IconLeafLabelList"/>
    <dgm:cxn modelId="{CE0C8C76-BFD5-456D-85DD-016BAA4A5F0C}" type="presParOf" srcId="{09CD3CF0-7274-4271-8959-D0531CBA9F39}" destId="{DCB782E8-12F1-42D3-903B-17E091254D4B}" srcOrd="2" destOrd="0" presId="urn:microsoft.com/office/officeart/2018/5/layout/IconLeafLabelList"/>
    <dgm:cxn modelId="{3A48A700-E613-4EC7-8A08-D1DE81AB6F46}" type="presParOf" srcId="{DCB782E8-12F1-42D3-903B-17E091254D4B}" destId="{BE5F8DC9-6C47-4699-B33F-F9BAFEE499AF}" srcOrd="0" destOrd="0" presId="urn:microsoft.com/office/officeart/2018/5/layout/IconLeafLabelList"/>
    <dgm:cxn modelId="{114154C4-277D-4EF2-88B0-077C94D6E4A4}" type="presParOf" srcId="{DCB782E8-12F1-42D3-903B-17E091254D4B}" destId="{039D8E3B-7051-4694-8B2F-B6653DA6821E}" srcOrd="1" destOrd="0" presId="urn:microsoft.com/office/officeart/2018/5/layout/IconLeafLabelList"/>
    <dgm:cxn modelId="{E4C134CF-1B4C-4619-999C-0A298DFEB213}" type="presParOf" srcId="{DCB782E8-12F1-42D3-903B-17E091254D4B}" destId="{E23C2AEC-65BB-41E9-B1EB-8529DF5EBBCA}" srcOrd="2" destOrd="0" presId="urn:microsoft.com/office/officeart/2018/5/layout/IconLeafLabelList"/>
    <dgm:cxn modelId="{94B05AA9-E592-4D01-A475-421A5E14B983}" type="presParOf" srcId="{DCB782E8-12F1-42D3-903B-17E091254D4B}" destId="{4A4081DF-9F05-492C-A4B1-DD8D923DC6AE}" srcOrd="3" destOrd="0" presId="urn:microsoft.com/office/officeart/2018/5/layout/IconLeafLabelList"/>
    <dgm:cxn modelId="{E31D415B-A3BD-4A55-A05C-848997640764}" type="presParOf" srcId="{09CD3CF0-7274-4271-8959-D0531CBA9F39}" destId="{283DAD0C-9586-4D29-B962-F0E111569423}" srcOrd="3" destOrd="0" presId="urn:microsoft.com/office/officeart/2018/5/layout/IconLeafLabelList"/>
    <dgm:cxn modelId="{277A5050-9020-4607-AC9C-3B2637C2E3BA}" type="presParOf" srcId="{09CD3CF0-7274-4271-8959-D0531CBA9F39}" destId="{7C6FE95E-FD27-43F1-88A0-0C41DA2AB0F0}" srcOrd="4" destOrd="0" presId="urn:microsoft.com/office/officeart/2018/5/layout/IconLeafLabelList"/>
    <dgm:cxn modelId="{4CE22E15-09E0-4CC5-9E42-EA5D483E46E1}" type="presParOf" srcId="{7C6FE95E-FD27-43F1-88A0-0C41DA2AB0F0}" destId="{902D79B0-20EA-48A9-AB10-FF9DF95B4BC5}" srcOrd="0" destOrd="0" presId="urn:microsoft.com/office/officeart/2018/5/layout/IconLeafLabelList"/>
    <dgm:cxn modelId="{C066706F-4A9D-40F1-BBF5-BF9CC7146A27}" type="presParOf" srcId="{7C6FE95E-FD27-43F1-88A0-0C41DA2AB0F0}" destId="{C72235BA-DBEC-45D0-92F4-D3AE1F657227}" srcOrd="1" destOrd="0" presId="urn:microsoft.com/office/officeart/2018/5/layout/IconLeafLabelList"/>
    <dgm:cxn modelId="{CD29274B-F5C3-46A5-9A13-98FDCEE2FE46}" type="presParOf" srcId="{7C6FE95E-FD27-43F1-88A0-0C41DA2AB0F0}" destId="{4C7837CC-2209-4D85-A655-70A1ED339A7E}" srcOrd="2" destOrd="0" presId="urn:microsoft.com/office/officeart/2018/5/layout/IconLeafLabelList"/>
    <dgm:cxn modelId="{51F88D98-7A5C-4003-B410-F21C97192E1B}" type="presParOf" srcId="{7C6FE95E-FD27-43F1-88A0-0C41DA2AB0F0}" destId="{279B836D-1AB1-4D0D-8455-DD717A31019C}" srcOrd="3" destOrd="0" presId="urn:microsoft.com/office/officeart/2018/5/layout/IconLeafLabelList"/>
    <dgm:cxn modelId="{3CAA1A17-8473-4D33-899D-88D9BB6AE30E}" type="presParOf" srcId="{09CD3CF0-7274-4271-8959-D0531CBA9F39}" destId="{F53E1E39-B18E-4CB3-A2FA-9033BAE526E3}" srcOrd="5" destOrd="0" presId="urn:microsoft.com/office/officeart/2018/5/layout/IconLeafLabelList"/>
    <dgm:cxn modelId="{D50B18B1-D73D-4981-9EB5-D9A7AD5C3C5F}" type="presParOf" srcId="{09CD3CF0-7274-4271-8959-D0531CBA9F39}" destId="{62630203-1D8C-4191-880A-D0AF1ADF6F50}" srcOrd="6" destOrd="0" presId="urn:microsoft.com/office/officeart/2018/5/layout/IconLeafLabelList"/>
    <dgm:cxn modelId="{493617DE-3E6B-4344-97D2-1F61C9710E03}" type="presParOf" srcId="{62630203-1D8C-4191-880A-D0AF1ADF6F50}" destId="{E7DFF5A2-282B-4450-8617-6780F1D3D31D}" srcOrd="0" destOrd="0" presId="urn:microsoft.com/office/officeart/2018/5/layout/IconLeafLabelList"/>
    <dgm:cxn modelId="{F1210DAF-4C59-4032-9D15-ADF546E30627}" type="presParOf" srcId="{62630203-1D8C-4191-880A-D0AF1ADF6F50}" destId="{E4CE262B-604E-412E-B447-24EB3DA6F9DC}" srcOrd="1" destOrd="0" presId="urn:microsoft.com/office/officeart/2018/5/layout/IconLeafLabelList"/>
    <dgm:cxn modelId="{C04B1442-C94D-45A9-972D-6AA8EE3C3BEB}" type="presParOf" srcId="{62630203-1D8C-4191-880A-D0AF1ADF6F50}" destId="{FD3F46BD-82F3-492C-AAD3-E028FBCBD105}" srcOrd="2" destOrd="0" presId="urn:microsoft.com/office/officeart/2018/5/layout/IconLeafLabelList"/>
    <dgm:cxn modelId="{6A0D2CD1-6207-443E-B673-242A12FE9B7D}" type="presParOf" srcId="{62630203-1D8C-4191-880A-D0AF1ADF6F50}" destId="{6909AC2D-B9B4-4F59-8F5A-B0D0A9438A94}" srcOrd="3" destOrd="0" presId="urn:microsoft.com/office/officeart/2018/5/layout/IconLeafLabelList"/>
    <dgm:cxn modelId="{947C2038-AF86-4943-AC3F-7AFFE5D37A4E}" type="presParOf" srcId="{09CD3CF0-7274-4271-8959-D0531CBA9F39}" destId="{7624C5E7-7496-44E8-AAB8-B042F8EF17E7}" srcOrd="7" destOrd="0" presId="urn:microsoft.com/office/officeart/2018/5/layout/IconLeafLabelList"/>
    <dgm:cxn modelId="{5315E31E-69A8-4F62-8D6E-E035AD25B28E}" type="presParOf" srcId="{09CD3CF0-7274-4271-8959-D0531CBA9F39}" destId="{BDCD2864-CFE1-4C83-8A25-A2A67971D5B1}" srcOrd="8" destOrd="0" presId="urn:microsoft.com/office/officeart/2018/5/layout/IconLeafLabelList"/>
    <dgm:cxn modelId="{478CB078-2749-4879-97D0-ACA31E45FBB1}" type="presParOf" srcId="{BDCD2864-CFE1-4C83-8A25-A2A67971D5B1}" destId="{979DFB62-5117-424C-8FCA-C9C08CFC96BA}" srcOrd="0" destOrd="0" presId="urn:microsoft.com/office/officeart/2018/5/layout/IconLeafLabelList"/>
    <dgm:cxn modelId="{C520D322-F0F4-4A11-8D56-FC5BFE14431D}" type="presParOf" srcId="{BDCD2864-CFE1-4C83-8A25-A2A67971D5B1}" destId="{0AA8749E-E126-4C38-8F29-115DC8165F43}" srcOrd="1" destOrd="0" presId="urn:microsoft.com/office/officeart/2018/5/layout/IconLeafLabelList"/>
    <dgm:cxn modelId="{5C0600A1-FEF2-4F95-9351-D7C029BE3481}" type="presParOf" srcId="{BDCD2864-CFE1-4C83-8A25-A2A67971D5B1}" destId="{C59F20BC-FEF2-432D-BD83-BBC30C0C3628}" srcOrd="2" destOrd="0" presId="urn:microsoft.com/office/officeart/2018/5/layout/IconLeafLabelList"/>
    <dgm:cxn modelId="{F45A1568-537A-49DA-A49A-36104385EDD1}" type="presParOf" srcId="{BDCD2864-CFE1-4C83-8A25-A2A67971D5B1}" destId="{7949AA93-C4FE-4D08-B1B6-BB390278217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F87B3-5D0D-489C-94C4-5DFB190AC04F}">
      <dsp:nvSpPr>
        <dsp:cNvPr id="0" name=""/>
        <dsp:cNvSpPr/>
      </dsp:nvSpPr>
      <dsp:spPr>
        <a:xfrm>
          <a:off x="656244" y="0"/>
          <a:ext cx="5338764" cy="533876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98B651-32CB-4B26-8C3C-669114A27C24}">
      <dsp:nvSpPr>
        <dsp:cNvPr id="0" name=""/>
        <dsp:cNvSpPr/>
      </dsp:nvSpPr>
      <dsp:spPr>
        <a:xfrm>
          <a:off x="1163427" y="507182"/>
          <a:ext cx="2082117" cy="208211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Microsoft Excel</a:t>
          </a:r>
        </a:p>
      </dsp:txBody>
      <dsp:txXfrm>
        <a:off x="1265068" y="608823"/>
        <a:ext cx="1878835" cy="1878835"/>
      </dsp:txXfrm>
    </dsp:sp>
    <dsp:sp modelId="{2205B889-BEFD-4BDE-A023-FE5A81F443DD}">
      <dsp:nvSpPr>
        <dsp:cNvPr id="0" name=""/>
        <dsp:cNvSpPr/>
      </dsp:nvSpPr>
      <dsp:spPr>
        <a:xfrm>
          <a:off x="3405707" y="507182"/>
          <a:ext cx="2082117" cy="208211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Microsoft Power Bi</a:t>
          </a:r>
        </a:p>
      </dsp:txBody>
      <dsp:txXfrm>
        <a:off x="3507348" y="608823"/>
        <a:ext cx="1878835" cy="1878835"/>
      </dsp:txXfrm>
    </dsp:sp>
    <dsp:sp modelId="{D1B36EAE-F3F6-4F33-9314-59E92BA068A8}">
      <dsp:nvSpPr>
        <dsp:cNvPr id="0" name=""/>
        <dsp:cNvSpPr/>
      </dsp:nvSpPr>
      <dsp:spPr>
        <a:xfrm>
          <a:off x="1163427" y="2749463"/>
          <a:ext cx="2082117" cy="2082117"/>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Tableau</a:t>
          </a:r>
        </a:p>
      </dsp:txBody>
      <dsp:txXfrm>
        <a:off x="1265068" y="2851104"/>
        <a:ext cx="1878835" cy="1878835"/>
      </dsp:txXfrm>
    </dsp:sp>
    <dsp:sp modelId="{D2BC9F88-522C-4912-9B51-274D71EB65FD}">
      <dsp:nvSpPr>
        <dsp:cNvPr id="0" name=""/>
        <dsp:cNvSpPr/>
      </dsp:nvSpPr>
      <dsp:spPr>
        <a:xfrm>
          <a:off x="3405707" y="2749463"/>
          <a:ext cx="2082117" cy="208211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MYSQL</a:t>
          </a:r>
        </a:p>
      </dsp:txBody>
      <dsp:txXfrm>
        <a:off x="3507348" y="2851104"/>
        <a:ext cx="1878835" cy="1878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06BB7-9D45-48C1-BA3D-AB23D32889DE}">
      <dsp:nvSpPr>
        <dsp:cNvPr id="0" name=""/>
        <dsp:cNvSpPr/>
      </dsp:nvSpPr>
      <dsp:spPr>
        <a:xfrm>
          <a:off x="478800" y="9940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0A221B-42DE-4505-9E18-718CDB3C185F}">
      <dsp:nvSpPr>
        <dsp:cNvPr id="0" name=""/>
        <dsp:cNvSpPr/>
      </dsp:nvSpPr>
      <dsp:spPr>
        <a:xfrm>
          <a:off x="712800" y="12280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4118E3-1C35-4AEA-9F2C-EE0B648C2C09}">
      <dsp:nvSpPr>
        <dsp:cNvPr id="0" name=""/>
        <dsp:cNvSpPr/>
      </dsp:nvSpPr>
      <dsp:spPr>
        <a:xfrm>
          <a:off x="127800" y="24340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1. Extract Data/Import Files </a:t>
          </a:r>
        </a:p>
      </dsp:txBody>
      <dsp:txXfrm>
        <a:off x="127800" y="2434069"/>
        <a:ext cx="1800000" cy="720000"/>
      </dsp:txXfrm>
    </dsp:sp>
    <dsp:sp modelId="{BE5F8DC9-6C47-4699-B33F-F9BAFEE499AF}">
      <dsp:nvSpPr>
        <dsp:cNvPr id="0" name=""/>
        <dsp:cNvSpPr/>
      </dsp:nvSpPr>
      <dsp:spPr>
        <a:xfrm>
          <a:off x="2593800" y="9940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9D8E3B-7051-4694-8B2F-B6653DA6821E}">
      <dsp:nvSpPr>
        <dsp:cNvPr id="0" name=""/>
        <dsp:cNvSpPr/>
      </dsp:nvSpPr>
      <dsp:spPr>
        <a:xfrm>
          <a:off x="2827800" y="122806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4081DF-9F05-492C-A4B1-DD8D923DC6AE}">
      <dsp:nvSpPr>
        <dsp:cNvPr id="0" name=""/>
        <dsp:cNvSpPr/>
      </dsp:nvSpPr>
      <dsp:spPr>
        <a:xfrm>
          <a:off x="2242800" y="24340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2. Transform Data (remove blank and duplicates) </a:t>
          </a:r>
        </a:p>
      </dsp:txBody>
      <dsp:txXfrm>
        <a:off x="2242800" y="2434069"/>
        <a:ext cx="1800000" cy="720000"/>
      </dsp:txXfrm>
    </dsp:sp>
    <dsp:sp modelId="{902D79B0-20EA-48A9-AB10-FF9DF95B4BC5}">
      <dsp:nvSpPr>
        <dsp:cNvPr id="0" name=""/>
        <dsp:cNvSpPr/>
      </dsp:nvSpPr>
      <dsp:spPr>
        <a:xfrm>
          <a:off x="4708800" y="9940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2235BA-DBEC-45D0-92F4-D3AE1F657227}">
      <dsp:nvSpPr>
        <dsp:cNvPr id="0" name=""/>
        <dsp:cNvSpPr/>
      </dsp:nvSpPr>
      <dsp:spPr>
        <a:xfrm>
          <a:off x="4942800" y="122806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9B836D-1AB1-4D0D-8455-DD717A31019C}">
      <dsp:nvSpPr>
        <dsp:cNvPr id="0" name=""/>
        <dsp:cNvSpPr/>
      </dsp:nvSpPr>
      <dsp:spPr>
        <a:xfrm>
          <a:off x="4357800" y="24340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3. Manage Relationships </a:t>
          </a:r>
        </a:p>
      </dsp:txBody>
      <dsp:txXfrm>
        <a:off x="4357800" y="2434069"/>
        <a:ext cx="1800000" cy="720000"/>
      </dsp:txXfrm>
    </dsp:sp>
    <dsp:sp modelId="{E7DFF5A2-282B-4450-8617-6780F1D3D31D}">
      <dsp:nvSpPr>
        <dsp:cNvPr id="0" name=""/>
        <dsp:cNvSpPr/>
      </dsp:nvSpPr>
      <dsp:spPr>
        <a:xfrm>
          <a:off x="6823800" y="9940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CE262B-604E-412E-B447-24EB3DA6F9DC}">
      <dsp:nvSpPr>
        <dsp:cNvPr id="0" name=""/>
        <dsp:cNvSpPr/>
      </dsp:nvSpPr>
      <dsp:spPr>
        <a:xfrm>
          <a:off x="7057800" y="122806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09AC2D-B9B4-4F59-8F5A-B0D0A9438A94}">
      <dsp:nvSpPr>
        <dsp:cNvPr id="0" name=""/>
        <dsp:cNvSpPr/>
      </dsp:nvSpPr>
      <dsp:spPr>
        <a:xfrm>
          <a:off x="6472800" y="24340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4. KPI and Visualization</a:t>
          </a:r>
        </a:p>
      </dsp:txBody>
      <dsp:txXfrm>
        <a:off x="6472800" y="2434069"/>
        <a:ext cx="1800000" cy="720000"/>
      </dsp:txXfrm>
    </dsp:sp>
    <dsp:sp modelId="{979DFB62-5117-424C-8FCA-C9C08CFC96BA}">
      <dsp:nvSpPr>
        <dsp:cNvPr id="0" name=""/>
        <dsp:cNvSpPr/>
      </dsp:nvSpPr>
      <dsp:spPr>
        <a:xfrm>
          <a:off x="8938800" y="9940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A8749E-E126-4C38-8F29-115DC8165F43}">
      <dsp:nvSpPr>
        <dsp:cNvPr id="0" name=""/>
        <dsp:cNvSpPr/>
      </dsp:nvSpPr>
      <dsp:spPr>
        <a:xfrm>
          <a:off x="9172800" y="122806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9AA93-C4FE-4D08-B1B6-BB390278217D}">
      <dsp:nvSpPr>
        <dsp:cNvPr id="0" name=""/>
        <dsp:cNvSpPr/>
      </dsp:nvSpPr>
      <dsp:spPr>
        <a:xfrm>
          <a:off x="8587800" y="24340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5. Dashboard</a:t>
          </a:r>
        </a:p>
      </dsp:txBody>
      <dsp:txXfrm>
        <a:off x="8587800" y="2434069"/>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FE35D8-8B04-4A64-94EE-AFF7A52E48B0}" type="datetimeFigureOut">
              <a:rPr lang="en-US" smtClean="0"/>
              <a:t>3/10/2025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11F8A-EEB1-44E5-A4C0-8F89BDA92DD5}" type="slidenum">
              <a:rPr lang="en-US" smtClean="0"/>
              <a:t>‹#›</a:t>
            </a:fld>
            <a:endParaRPr lang="en-US"/>
          </a:p>
        </p:txBody>
      </p:sp>
    </p:spTree>
    <p:extLst>
      <p:ext uri="{BB962C8B-B14F-4D97-AF65-F5344CB8AC3E}">
        <p14:creationId xmlns:p14="http://schemas.microsoft.com/office/powerpoint/2010/main" val="576482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3</a:t>
            </a:fld>
            <a:endParaRPr lang="en-US"/>
          </a:p>
        </p:txBody>
      </p:sp>
    </p:spTree>
    <p:extLst>
      <p:ext uri="{BB962C8B-B14F-4D97-AF65-F5344CB8AC3E}">
        <p14:creationId xmlns:p14="http://schemas.microsoft.com/office/powerpoint/2010/main" val="724075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4</a:t>
            </a:fld>
            <a:endParaRPr lang="en-US"/>
          </a:p>
        </p:txBody>
      </p:sp>
    </p:spTree>
    <p:extLst>
      <p:ext uri="{BB962C8B-B14F-4D97-AF65-F5344CB8AC3E}">
        <p14:creationId xmlns:p14="http://schemas.microsoft.com/office/powerpoint/2010/main" val="2053563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t>
            </a:r>
          </a:p>
        </p:txBody>
      </p:sp>
      <p:sp>
        <p:nvSpPr>
          <p:cNvPr id="4" name="Slide Number Placeholder 3"/>
          <p:cNvSpPr>
            <a:spLocks noGrp="1"/>
          </p:cNvSpPr>
          <p:nvPr>
            <p:ph type="sldNum" sz="quarter" idx="5"/>
          </p:nvPr>
        </p:nvSpPr>
        <p:spPr/>
        <p:txBody>
          <a:bodyPr/>
          <a:lstStyle/>
          <a:p>
            <a:fld id="{6D211F8A-EEB1-44E5-A4C0-8F89BDA92DD5}" type="slidenum">
              <a:rPr lang="en-US" smtClean="0"/>
              <a:t>6</a:t>
            </a:fld>
            <a:endParaRPr lang="en-US"/>
          </a:p>
        </p:txBody>
      </p:sp>
    </p:spTree>
    <p:extLst>
      <p:ext uri="{BB962C8B-B14F-4D97-AF65-F5344CB8AC3E}">
        <p14:creationId xmlns:p14="http://schemas.microsoft.com/office/powerpoint/2010/main" val="3066225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7</a:t>
            </a:fld>
            <a:endParaRPr lang="en-US"/>
          </a:p>
        </p:txBody>
      </p:sp>
    </p:spTree>
    <p:extLst>
      <p:ext uri="{BB962C8B-B14F-4D97-AF65-F5344CB8AC3E}">
        <p14:creationId xmlns:p14="http://schemas.microsoft.com/office/powerpoint/2010/main" val="3192525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8</a:t>
            </a:fld>
            <a:endParaRPr lang="en-US"/>
          </a:p>
        </p:txBody>
      </p:sp>
    </p:spTree>
    <p:extLst>
      <p:ext uri="{BB962C8B-B14F-4D97-AF65-F5344CB8AC3E}">
        <p14:creationId xmlns:p14="http://schemas.microsoft.com/office/powerpoint/2010/main" val="2820302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Dashboard</a:t>
            </a:r>
          </a:p>
        </p:txBody>
      </p:sp>
      <p:sp>
        <p:nvSpPr>
          <p:cNvPr id="4" name="Slide Number Placeholder 3"/>
          <p:cNvSpPr>
            <a:spLocks noGrp="1"/>
          </p:cNvSpPr>
          <p:nvPr>
            <p:ph type="sldNum" sz="quarter" idx="5"/>
          </p:nvPr>
        </p:nvSpPr>
        <p:spPr/>
        <p:txBody>
          <a:bodyPr/>
          <a:lstStyle/>
          <a:p>
            <a:fld id="{6D211F8A-EEB1-44E5-A4C0-8F89BDA92DD5}" type="slidenum">
              <a:rPr lang="en-US" smtClean="0"/>
              <a:t>10</a:t>
            </a:fld>
            <a:endParaRPr lang="en-US"/>
          </a:p>
        </p:txBody>
      </p:sp>
    </p:spTree>
    <p:extLst>
      <p:ext uri="{BB962C8B-B14F-4D97-AF65-F5344CB8AC3E}">
        <p14:creationId xmlns:p14="http://schemas.microsoft.com/office/powerpoint/2010/main" val="1555089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11</a:t>
            </a:fld>
            <a:endParaRPr lang="en-US"/>
          </a:p>
        </p:txBody>
      </p:sp>
    </p:spTree>
    <p:extLst>
      <p:ext uri="{BB962C8B-B14F-4D97-AF65-F5344CB8AC3E}">
        <p14:creationId xmlns:p14="http://schemas.microsoft.com/office/powerpoint/2010/main" val="2200866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12</a:t>
            </a:fld>
            <a:endParaRPr lang="en-US"/>
          </a:p>
        </p:txBody>
      </p:sp>
    </p:spTree>
    <p:extLst>
      <p:ext uri="{BB962C8B-B14F-4D97-AF65-F5344CB8AC3E}">
        <p14:creationId xmlns:p14="http://schemas.microsoft.com/office/powerpoint/2010/main" val="2328882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13</a:t>
            </a:fld>
            <a:endParaRPr lang="en-US"/>
          </a:p>
        </p:txBody>
      </p:sp>
    </p:spTree>
    <p:extLst>
      <p:ext uri="{BB962C8B-B14F-4D97-AF65-F5344CB8AC3E}">
        <p14:creationId xmlns:p14="http://schemas.microsoft.com/office/powerpoint/2010/main" val="2988766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16</a:t>
            </a:fld>
            <a:endParaRPr lang="en-US"/>
          </a:p>
        </p:txBody>
      </p:sp>
    </p:spTree>
    <p:extLst>
      <p:ext uri="{BB962C8B-B14F-4D97-AF65-F5344CB8AC3E}">
        <p14:creationId xmlns:p14="http://schemas.microsoft.com/office/powerpoint/2010/main" val="4102958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18</a:t>
            </a:fld>
            <a:endParaRPr lang="en-US"/>
          </a:p>
        </p:txBody>
      </p:sp>
    </p:spTree>
    <p:extLst>
      <p:ext uri="{BB962C8B-B14F-4D97-AF65-F5344CB8AC3E}">
        <p14:creationId xmlns:p14="http://schemas.microsoft.com/office/powerpoint/2010/main" val="2997990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11F8A-EEB1-44E5-A4C0-8F89BDA92DD5}" type="slidenum">
              <a:rPr lang="en-US" smtClean="0"/>
              <a:t>19</a:t>
            </a:fld>
            <a:endParaRPr lang="en-US"/>
          </a:p>
        </p:txBody>
      </p:sp>
    </p:spTree>
    <p:extLst>
      <p:ext uri="{BB962C8B-B14F-4D97-AF65-F5344CB8AC3E}">
        <p14:creationId xmlns:p14="http://schemas.microsoft.com/office/powerpoint/2010/main" val="2321111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27897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29182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95738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51708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1953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30046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4345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6894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4733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8179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89232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23081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3/10/2025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80289387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67" r:id="rId6"/>
    <p:sldLayoutId id="2147483662" r:id="rId7"/>
    <p:sldLayoutId id="2147483663" r:id="rId8"/>
    <p:sldLayoutId id="2147483664" r:id="rId9"/>
    <p:sldLayoutId id="2147483665" r:id="rId10"/>
    <p:sldLayoutId id="2147483666" r:id="rId11"/>
    <p:sldLayoutId id="2147483668"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95A1C5-B8A3-DEBB-80C6-FE6E3F4FF517}"/>
              </a:ext>
            </a:extLst>
          </p:cNvPr>
          <p:cNvSpPr>
            <a:spLocks noGrp="1"/>
          </p:cNvSpPr>
          <p:nvPr>
            <p:ph type="ctrTitle"/>
          </p:nvPr>
        </p:nvSpPr>
        <p:spPr>
          <a:xfrm>
            <a:off x="643468" y="643467"/>
            <a:ext cx="4620584" cy="4567137"/>
          </a:xfrm>
        </p:spPr>
        <p:txBody>
          <a:bodyPr vert="horz" lIns="91440" tIns="45720" rIns="91440" bIns="45720" rtlCol="0">
            <a:normAutofit/>
          </a:bodyPr>
          <a:lstStyle/>
          <a:p>
            <a:r>
              <a:rPr lang="en-US"/>
              <a:t>Bank Analytics</a:t>
            </a:r>
          </a:p>
        </p:txBody>
      </p:sp>
      <p:sp>
        <p:nvSpPr>
          <p:cNvPr id="3" name="Subtitle 2">
            <a:extLst>
              <a:ext uri="{FF2B5EF4-FFF2-40B4-BE49-F238E27FC236}">
                <a16:creationId xmlns:a16="http://schemas.microsoft.com/office/drawing/2014/main" id="{62068DC5-6BB8-43DF-B00A-5466D2C7D74F}"/>
              </a:ext>
            </a:extLst>
          </p:cNvPr>
          <p:cNvSpPr>
            <a:spLocks noGrp="1"/>
          </p:cNvSpPr>
          <p:nvPr>
            <p:ph type="subTitle" idx="1"/>
          </p:nvPr>
        </p:nvSpPr>
        <p:spPr>
          <a:xfrm>
            <a:off x="643467" y="5277684"/>
            <a:ext cx="4620584" cy="775494"/>
          </a:xfrm>
        </p:spPr>
        <p:txBody>
          <a:bodyPr vert="horz" lIns="91440" tIns="45720" rIns="91440" bIns="45720" rtlCol="0">
            <a:normAutofit/>
          </a:bodyPr>
          <a:lstStyle/>
          <a:p>
            <a:pPr fontAlgn="b"/>
            <a:r>
              <a:rPr lang="en-US" b="1"/>
              <a:t>Cheetiralla Veera Bharath</a:t>
            </a:r>
          </a:p>
          <a:p>
            <a:pPr indent="-228600">
              <a:buFont typeface="Arial" panose="020B0604020202020204" pitchFamily="34" charset="0"/>
              <a:buChar char="•"/>
            </a:pPr>
            <a:endParaRPr lang="en-US"/>
          </a:p>
        </p:txBody>
      </p:sp>
      <p:pic>
        <p:nvPicPr>
          <p:cNvPr id="14" name="Picture 13" descr="Calculator, pen, compass, money and a paper with graphs printed on it">
            <a:extLst>
              <a:ext uri="{FF2B5EF4-FFF2-40B4-BE49-F238E27FC236}">
                <a16:creationId xmlns:a16="http://schemas.microsoft.com/office/drawing/2014/main" id="{C453F7B5-BFDF-2B79-E4AD-FCFD83AC8051}"/>
              </a:ext>
            </a:extLst>
          </p:cNvPr>
          <p:cNvPicPr>
            <a:picLocks noChangeAspect="1"/>
          </p:cNvPicPr>
          <p:nvPr/>
        </p:nvPicPr>
        <p:blipFill>
          <a:blip r:embed="rId2"/>
          <a:srcRect l="23808" r="23806"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7474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ADB293-117E-5AEE-7597-6608EA57BD3D}"/>
              </a:ext>
            </a:extLst>
          </p:cNvPr>
          <p:cNvSpPr>
            <a:spLocks noGrp="1"/>
          </p:cNvSpPr>
          <p:nvPr>
            <p:ph type="title"/>
          </p:nvPr>
        </p:nvSpPr>
        <p:spPr>
          <a:xfrm>
            <a:off x="6513788" y="365125"/>
            <a:ext cx="4840010" cy="1807305"/>
          </a:xfrm>
        </p:spPr>
        <p:txBody>
          <a:bodyPr>
            <a:normAutofit/>
          </a:bodyPr>
          <a:lstStyle/>
          <a:p>
            <a:r>
              <a:rPr lang="en-US" dirty="0"/>
              <a:t>Introduction</a:t>
            </a:r>
          </a:p>
        </p:txBody>
      </p:sp>
      <p:pic>
        <p:nvPicPr>
          <p:cNvPr id="5" name="Picture 4" descr="Digital financial graph">
            <a:extLst>
              <a:ext uri="{FF2B5EF4-FFF2-40B4-BE49-F238E27FC236}">
                <a16:creationId xmlns:a16="http://schemas.microsoft.com/office/drawing/2014/main" id="{BD49FF4E-BD4A-8A22-53AC-49138958176E}"/>
              </a:ext>
            </a:extLst>
          </p:cNvPr>
          <p:cNvPicPr>
            <a:picLocks noChangeAspect="1"/>
          </p:cNvPicPr>
          <p:nvPr/>
        </p:nvPicPr>
        <p:blipFill>
          <a:blip r:embed="rId2"/>
          <a:srcRect l="32559" r="17273"/>
          <a:stretch/>
        </p:blipFill>
        <p:spPr>
          <a:xfrm>
            <a:off x="2" y="10"/>
            <a:ext cx="611656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A217EE4-4A2C-378B-5A95-F22FFEC246CE}"/>
              </a:ext>
            </a:extLst>
          </p:cNvPr>
          <p:cNvSpPr>
            <a:spLocks noGrp="1"/>
          </p:cNvSpPr>
          <p:nvPr>
            <p:ph idx="1"/>
          </p:nvPr>
        </p:nvSpPr>
        <p:spPr>
          <a:xfrm>
            <a:off x="6513788" y="2333297"/>
            <a:ext cx="4840010" cy="3843666"/>
          </a:xfrm>
        </p:spPr>
        <p:txBody>
          <a:bodyPr>
            <a:normAutofit/>
          </a:bodyPr>
          <a:lstStyle/>
          <a:p>
            <a:pPr marL="0" indent="0" algn="just">
              <a:buNone/>
            </a:pPr>
            <a:r>
              <a:rPr lang="en-US" sz="2000" dirty="0"/>
              <a:t>This presentation aims to provide a comprehensive overview of key metrics and trends extracted from the bank's analytics data. By visualizing these insights, we can identify areas for improvement, optimize operations, and make data-driven decisions.</a:t>
            </a:r>
          </a:p>
          <a:p>
            <a:endParaRPr lang="en-US" sz="2000" dirty="0"/>
          </a:p>
        </p:txBody>
      </p:sp>
    </p:spTree>
    <p:extLst>
      <p:ext uri="{BB962C8B-B14F-4D97-AF65-F5344CB8AC3E}">
        <p14:creationId xmlns:p14="http://schemas.microsoft.com/office/powerpoint/2010/main" val="792913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32" name="Rectangle 31">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070" y="1780058"/>
            <a:ext cx="3781618" cy="289914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rgbClr val="C34DB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9D089A3E-6D88-AD42-A6E1-859E48C473C5}"/>
              </a:ext>
            </a:extLst>
          </p:cNvPr>
          <p:cNvSpPr txBox="1"/>
          <p:nvPr/>
        </p:nvSpPr>
        <p:spPr>
          <a:xfrm>
            <a:off x="1345951" y="2785167"/>
            <a:ext cx="3010737" cy="128766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i="1" dirty="0">
                <a:latin typeface="+mj-lt"/>
                <a:ea typeface="+mj-ea"/>
                <a:cs typeface="+mj-cs"/>
              </a:rPr>
              <a:t>Tools Used</a:t>
            </a:r>
          </a:p>
        </p:txBody>
      </p:sp>
      <p:graphicFrame>
        <p:nvGraphicFramePr>
          <p:cNvPr id="8" name="TextBox 2">
            <a:extLst>
              <a:ext uri="{FF2B5EF4-FFF2-40B4-BE49-F238E27FC236}">
                <a16:creationId xmlns:a16="http://schemas.microsoft.com/office/drawing/2014/main" id="{58421BBE-1576-9689-5A68-E1DF08EF6C42}"/>
              </a:ext>
            </a:extLst>
          </p:cNvPr>
          <p:cNvGraphicFramePr/>
          <p:nvPr>
            <p:extLst>
              <p:ext uri="{D42A27DB-BD31-4B8C-83A1-F6EECF244321}">
                <p14:modId xmlns:p14="http://schemas.microsoft.com/office/powerpoint/2010/main" val="3905959679"/>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8416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32" name="Rectangle 31">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rgbClr val="C34DB4">
              <a:alpha val="20000"/>
            </a:srgbClr>
          </a:solidFill>
          <a:ln w="32707" cap="flat">
            <a:noFill/>
            <a:prstDash val="solid"/>
            <a:miter/>
          </a:ln>
        </p:spPr>
        <p:txBody>
          <a:bodyPr wrap="square" rtlCol="0" anchor="ctr">
            <a:noAutofit/>
          </a:bodyPr>
          <a:lstStyle/>
          <a:p>
            <a:endParaRPr lang="en-US"/>
          </a:p>
        </p:txBody>
      </p:sp>
      <p:sp>
        <p:nvSpPr>
          <p:cNvPr id="3" name="TextBox 2">
            <a:extLst>
              <a:ext uri="{FF2B5EF4-FFF2-40B4-BE49-F238E27FC236}">
                <a16:creationId xmlns:a16="http://schemas.microsoft.com/office/drawing/2014/main" id="{B714B00C-16F0-89B3-A59C-DBEC0903F530}"/>
              </a:ext>
            </a:extLst>
          </p:cNvPr>
          <p:cNvSpPr txBox="1"/>
          <p:nvPr/>
        </p:nvSpPr>
        <p:spPr>
          <a:xfrm>
            <a:off x="5526156" y="365125"/>
            <a:ext cx="5827643" cy="143343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i="1" dirty="0">
                <a:latin typeface="+mj-lt"/>
                <a:ea typeface="+mj-ea"/>
                <a:cs typeface="+mj-cs"/>
              </a:rPr>
              <a:t>OVERVIEW</a:t>
            </a:r>
          </a:p>
        </p:txBody>
      </p:sp>
      <p:pic>
        <p:nvPicPr>
          <p:cNvPr id="9" name="Graphic 8" descr="Bank">
            <a:extLst>
              <a:ext uri="{FF2B5EF4-FFF2-40B4-BE49-F238E27FC236}">
                <a16:creationId xmlns:a16="http://schemas.microsoft.com/office/drawing/2014/main" id="{548DA15B-03C6-A149-CEAB-FD9A86AA1D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585" y="2960076"/>
            <a:ext cx="3449030" cy="3449030"/>
          </a:xfrm>
          <a:prstGeom prst="rect">
            <a:avLst/>
          </a:prstGeom>
        </p:spPr>
      </p:pic>
      <p:sp>
        <p:nvSpPr>
          <p:cNvPr id="5" name="TextBox 4">
            <a:extLst>
              <a:ext uri="{FF2B5EF4-FFF2-40B4-BE49-F238E27FC236}">
                <a16:creationId xmlns:a16="http://schemas.microsoft.com/office/drawing/2014/main" id="{2313C3BD-0870-F507-F17C-3FA67B5E84B3}"/>
              </a:ext>
            </a:extLst>
          </p:cNvPr>
          <p:cNvSpPr txBox="1"/>
          <p:nvPr/>
        </p:nvSpPr>
        <p:spPr>
          <a:xfrm>
            <a:off x="4887685" y="2163683"/>
            <a:ext cx="6912429" cy="4013279"/>
          </a:xfrm>
          <a:prstGeom prst="rect">
            <a:avLst/>
          </a:prstGeom>
        </p:spPr>
        <p:txBody>
          <a:bodyPr vert="horz" lIns="91440" tIns="45720" rIns="91440" bIns="45720" rtlCol="0" anchor="t">
            <a:normAutofit/>
          </a:bodyPr>
          <a:lstStyle/>
          <a:p>
            <a:pPr algn="just">
              <a:lnSpc>
                <a:spcPct val="90000"/>
              </a:lnSpc>
              <a:spcAft>
                <a:spcPts val="600"/>
              </a:spcAft>
            </a:pPr>
            <a:r>
              <a:rPr lang="en-US" sz="2000" b="0" i="0" dirty="0">
                <a:effectLst/>
              </a:rPr>
              <a:t>The Bank Analytics project aims to analyze loan data using tools like Excel, Power BI, SQL, and Tableau. Key performance indicators (KPIs) include loan amounts, interest rates, borrower profiles, and financial situations. The project focuses on identifying trends and patterns to provide insights for debt consolidation, home improvement, educational expenses, small business funding, and personal needs. The analysis helps create interactive dashboards and data-driven recommendations for better decision-making.</a:t>
            </a:r>
            <a:endParaRPr lang="en-US" sz="2000" dirty="0"/>
          </a:p>
        </p:txBody>
      </p:sp>
    </p:spTree>
    <p:extLst>
      <p:ext uri="{BB962C8B-B14F-4D97-AF65-F5344CB8AC3E}">
        <p14:creationId xmlns:p14="http://schemas.microsoft.com/office/powerpoint/2010/main" val="381457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54" name="Rectangle 53">
            <a:extLst>
              <a:ext uri="{FF2B5EF4-FFF2-40B4-BE49-F238E27FC236}">
                <a16:creationId xmlns:a16="http://schemas.microsoft.com/office/drawing/2014/main" id="{5D11FD0E-2D27-4A5A-949D-222E61ECB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1BC8109F-B452-45EE-8BB3-65433C039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rgbClr val="C34DB4">
              <a:alpha val="20000"/>
            </a:srgbClr>
          </a:solidFill>
          <a:ln w="32707" cap="flat">
            <a:noFill/>
            <a:prstDash val="solid"/>
            <a:miter/>
          </a:ln>
        </p:spPr>
        <p:txBody>
          <a:bodyPr wrap="square" rtlCol="0" anchor="ctr">
            <a:noAutofit/>
          </a:bodyPr>
          <a:lstStyle/>
          <a:p>
            <a:endParaRPr lang="en-US"/>
          </a:p>
        </p:txBody>
      </p:sp>
      <p:sp>
        <p:nvSpPr>
          <p:cNvPr id="6" name="TextBox 5">
            <a:extLst>
              <a:ext uri="{FF2B5EF4-FFF2-40B4-BE49-F238E27FC236}">
                <a16:creationId xmlns:a16="http://schemas.microsoft.com/office/drawing/2014/main" id="{B493F9CE-F900-6AF5-C1A6-AE069D61516A}"/>
              </a:ext>
            </a:extLst>
          </p:cNvPr>
          <p:cNvSpPr txBox="1"/>
          <p:nvPr/>
        </p:nvSpPr>
        <p:spPr>
          <a:xfrm>
            <a:off x="5991225" y="279400"/>
            <a:ext cx="5362576" cy="18923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i="1" dirty="0">
                <a:latin typeface="+mj-lt"/>
                <a:ea typeface="+mj-ea"/>
                <a:cs typeface="+mj-cs"/>
              </a:rPr>
              <a:t>PROJECT WORKFLOW</a:t>
            </a:r>
          </a:p>
        </p:txBody>
      </p:sp>
      <p:graphicFrame>
        <p:nvGraphicFramePr>
          <p:cNvPr id="8" name="TextBox 2">
            <a:extLst>
              <a:ext uri="{FF2B5EF4-FFF2-40B4-BE49-F238E27FC236}">
                <a16:creationId xmlns:a16="http://schemas.microsoft.com/office/drawing/2014/main" id="{4031B834-874F-F1D8-3F05-AABF391256A6}"/>
              </a:ext>
            </a:extLst>
          </p:cNvPr>
          <p:cNvGraphicFramePr/>
          <p:nvPr>
            <p:extLst>
              <p:ext uri="{D42A27DB-BD31-4B8C-83A1-F6EECF244321}">
                <p14:modId xmlns:p14="http://schemas.microsoft.com/office/powerpoint/2010/main" val="1562067616"/>
              </p:ext>
            </p:extLst>
          </p:nvPr>
        </p:nvGraphicFramePr>
        <p:xfrm>
          <a:off x="838200" y="2028825"/>
          <a:ext cx="10515600" cy="4148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770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D74534-61C7-3D95-B7C6-D389D29ADDD9}"/>
              </a:ext>
            </a:extLst>
          </p:cNvPr>
          <p:cNvSpPr txBox="1"/>
          <p:nvPr/>
        </p:nvSpPr>
        <p:spPr>
          <a:xfrm>
            <a:off x="7810499" y="2468017"/>
            <a:ext cx="6096000" cy="653962"/>
          </a:xfrm>
          <a:prstGeom prst="rect">
            <a:avLst/>
          </a:prstGeom>
          <a:noFill/>
        </p:spPr>
        <p:txBody>
          <a:bodyPr wrap="square">
            <a:spAutoFit/>
          </a:bodyPr>
          <a:lstStyle/>
          <a:p>
            <a:pPr>
              <a:lnSpc>
                <a:spcPct val="90000"/>
              </a:lnSpc>
              <a:spcBef>
                <a:spcPct val="0"/>
              </a:spcBef>
              <a:spcAft>
                <a:spcPts val="600"/>
              </a:spcAft>
            </a:pPr>
            <a:r>
              <a:rPr lang="en-US" sz="4000" b="1" i="1" dirty="0">
                <a:latin typeface="+mj-lt"/>
                <a:ea typeface="+mj-ea"/>
                <a:cs typeface="+mj-cs"/>
              </a:rPr>
              <a:t>JO INS</a:t>
            </a:r>
          </a:p>
        </p:txBody>
      </p:sp>
      <p:sp>
        <p:nvSpPr>
          <p:cNvPr id="5" name="TextBox 4">
            <a:extLst>
              <a:ext uri="{FF2B5EF4-FFF2-40B4-BE49-F238E27FC236}">
                <a16:creationId xmlns:a16="http://schemas.microsoft.com/office/drawing/2014/main" id="{ED9DF929-DBAF-6870-7A89-5EFF9C36B5AE}"/>
              </a:ext>
            </a:extLst>
          </p:cNvPr>
          <p:cNvSpPr txBox="1"/>
          <p:nvPr/>
        </p:nvSpPr>
        <p:spPr>
          <a:xfrm>
            <a:off x="990600" y="1415143"/>
            <a:ext cx="2002971" cy="461665"/>
          </a:xfrm>
          <a:prstGeom prst="rect">
            <a:avLst/>
          </a:prstGeom>
          <a:noFill/>
        </p:spPr>
        <p:txBody>
          <a:bodyPr wrap="square">
            <a:spAutoFit/>
          </a:bodyPr>
          <a:lstStyle/>
          <a:p>
            <a:r>
              <a:rPr lang="en-US" sz="2400"/>
              <a:t>Finance 1</a:t>
            </a:r>
            <a:endParaRPr lang="en-US" sz="2400" dirty="0"/>
          </a:p>
        </p:txBody>
      </p:sp>
      <p:cxnSp>
        <p:nvCxnSpPr>
          <p:cNvPr id="7" name="Connector: Elbow 6">
            <a:extLst>
              <a:ext uri="{FF2B5EF4-FFF2-40B4-BE49-F238E27FC236}">
                <a16:creationId xmlns:a16="http://schemas.microsoft.com/office/drawing/2014/main" id="{07CE46B4-9283-8DED-E683-F05EC8984DD1}"/>
              </a:ext>
            </a:extLst>
          </p:cNvPr>
          <p:cNvCxnSpPr/>
          <p:nvPr/>
        </p:nvCxnSpPr>
        <p:spPr>
          <a:xfrm>
            <a:off x="2667000" y="1599809"/>
            <a:ext cx="914400" cy="9144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397193-F34D-972A-0452-9E860655FC51}"/>
              </a:ext>
            </a:extLst>
          </p:cNvPr>
          <p:cNvSpPr txBox="1"/>
          <p:nvPr/>
        </p:nvSpPr>
        <p:spPr>
          <a:xfrm>
            <a:off x="3891643" y="2242458"/>
            <a:ext cx="7478484" cy="461665"/>
          </a:xfrm>
          <a:prstGeom prst="rect">
            <a:avLst/>
          </a:prstGeom>
          <a:noFill/>
        </p:spPr>
        <p:txBody>
          <a:bodyPr wrap="square">
            <a:spAutoFit/>
          </a:bodyPr>
          <a:lstStyle/>
          <a:p>
            <a:r>
              <a:rPr lang="en-US" sz="2400"/>
              <a:t>Finance 2</a:t>
            </a:r>
            <a:endParaRPr lang="en-US" sz="2400" dirty="0"/>
          </a:p>
        </p:txBody>
      </p:sp>
      <p:sp>
        <p:nvSpPr>
          <p:cNvPr id="10" name="Arrow: Down 9">
            <a:extLst>
              <a:ext uri="{FF2B5EF4-FFF2-40B4-BE49-F238E27FC236}">
                <a16:creationId xmlns:a16="http://schemas.microsoft.com/office/drawing/2014/main" id="{909693CB-26E3-D51D-1E79-73DC942ABC5D}"/>
              </a:ext>
            </a:extLst>
          </p:cNvPr>
          <p:cNvSpPr/>
          <p:nvPr/>
        </p:nvSpPr>
        <p:spPr>
          <a:xfrm>
            <a:off x="1365940" y="2165867"/>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F958AA00-B1A6-E295-2D27-1C7FDFB70B07}"/>
              </a:ext>
            </a:extLst>
          </p:cNvPr>
          <p:cNvSpPr/>
          <p:nvPr/>
        </p:nvSpPr>
        <p:spPr>
          <a:xfrm>
            <a:off x="4386944" y="2939796"/>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162C4B-B467-81B4-CB76-9886835DCCAA}"/>
              </a:ext>
            </a:extLst>
          </p:cNvPr>
          <p:cNvSpPr txBox="1"/>
          <p:nvPr/>
        </p:nvSpPr>
        <p:spPr>
          <a:xfrm>
            <a:off x="1365940" y="3713725"/>
            <a:ext cx="756774" cy="369332"/>
          </a:xfrm>
          <a:prstGeom prst="rect">
            <a:avLst/>
          </a:prstGeom>
          <a:noFill/>
        </p:spPr>
        <p:txBody>
          <a:bodyPr wrap="square">
            <a:spAutoFit/>
          </a:bodyPr>
          <a:lstStyle/>
          <a:p>
            <a:r>
              <a:rPr lang="en-US"/>
              <a:t>ID</a:t>
            </a:r>
            <a:endParaRPr lang="en-US" dirty="0"/>
          </a:p>
        </p:txBody>
      </p:sp>
      <p:sp>
        <p:nvSpPr>
          <p:cNvPr id="15" name="TextBox 14">
            <a:extLst>
              <a:ext uri="{FF2B5EF4-FFF2-40B4-BE49-F238E27FC236}">
                <a16:creationId xmlns:a16="http://schemas.microsoft.com/office/drawing/2014/main" id="{D71028F5-116E-035C-8C05-AD67D97B981F}"/>
              </a:ext>
            </a:extLst>
          </p:cNvPr>
          <p:cNvSpPr txBox="1"/>
          <p:nvPr/>
        </p:nvSpPr>
        <p:spPr>
          <a:xfrm>
            <a:off x="4512129" y="4246210"/>
            <a:ext cx="7478484" cy="369332"/>
          </a:xfrm>
          <a:prstGeom prst="rect">
            <a:avLst/>
          </a:prstGeom>
          <a:noFill/>
        </p:spPr>
        <p:txBody>
          <a:bodyPr wrap="square">
            <a:spAutoFit/>
          </a:bodyPr>
          <a:lstStyle/>
          <a:p>
            <a:r>
              <a:rPr lang="en-US"/>
              <a:t>ID</a:t>
            </a:r>
            <a:endParaRPr lang="en-US" dirty="0"/>
          </a:p>
        </p:txBody>
      </p:sp>
      <p:cxnSp>
        <p:nvCxnSpPr>
          <p:cNvPr id="17" name="Connector: Elbow 16">
            <a:extLst>
              <a:ext uri="{FF2B5EF4-FFF2-40B4-BE49-F238E27FC236}">
                <a16:creationId xmlns:a16="http://schemas.microsoft.com/office/drawing/2014/main" id="{9EF5857B-14AF-01D5-001D-8763F27A1A07}"/>
              </a:ext>
            </a:extLst>
          </p:cNvPr>
          <p:cNvCxnSpPr>
            <a:cxnSpLocks/>
            <a:stCxn id="13" idx="3"/>
          </p:cNvCxnSpPr>
          <p:nvPr/>
        </p:nvCxnSpPr>
        <p:spPr>
          <a:xfrm>
            <a:off x="2122714" y="3898391"/>
            <a:ext cx="1768929" cy="54506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88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AE7F7D-A83B-CEAA-DE39-674BEC062113}"/>
              </a:ext>
            </a:extLst>
          </p:cNvPr>
          <p:cNvPicPr>
            <a:picLocks noChangeAspect="1"/>
          </p:cNvPicPr>
          <p:nvPr/>
        </p:nvPicPr>
        <p:blipFill>
          <a:blip r:embed="rId3"/>
          <a:stretch>
            <a:fillRect/>
          </a:stretch>
        </p:blipFill>
        <p:spPr>
          <a:xfrm>
            <a:off x="1295931" y="1698171"/>
            <a:ext cx="9600137" cy="4562939"/>
          </a:xfrm>
          <a:prstGeom prst="rect">
            <a:avLst/>
          </a:prstGeom>
        </p:spPr>
      </p:pic>
      <p:sp>
        <p:nvSpPr>
          <p:cNvPr id="5" name="TextBox 4">
            <a:extLst>
              <a:ext uri="{FF2B5EF4-FFF2-40B4-BE49-F238E27FC236}">
                <a16:creationId xmlns:a16="http://schemas.microsoft.com/office/drawing/2014/main" id="{37EA3A5F-26D8-1F85-4082-E0A298DD2EFA}"/>
              </a:ext>
            </a:extLst>
          </p:cNvPr>
          <p:cNvSpPr txBox="1"/>
          <p:nvPr/>
        </p:nvSpPr>
        <p:spPr>
          <a:xfrm>
            <a:off x="4386943" y="805543"/>
            <a:ext cx="2579914" cy="485518"/>
          </a:xfrm>
          <a:prstGeom prst="rect">
            <a:avLst/>
          </a:prstGeom>
          <a:noFill/>
        </p:spPr>
        <p:txBody>
          <a:bodyPr wrap="square">
            <a:spAutoFit/>
          </a:bodyPr>
          <a:lstStyle/>
          <a:p>
            <a:pPr algn="just">
              <a:lnSpc>
                <a:spcPct val="90000"/>
              </a:lnSpc>
              <a:spcBef>
                <a:spcPct val="0"/>
              </a:spcBef>
              <a:spcAft>
                <a:spcPts val="600"/>
              </a:spcAft>
            </a:pPr>
            <a:r>
              <a:rPr lang="en-US" sz="2800" b="1" i="1" dirty="0">
                <a:latin typeface="+mj-lt"/>
                <a:ea typeface="+mj-ea"/>
                <a:cs typeface="+mj-cs"/>
              </a:rPr>
              <a:t>Relations</a:t>
            </a:r>
          </a:p>
        </p:txBody>
      </p:sp>
    </p:spTree>
    <p:extLst>
      <p:ext uri="{BB962C8B-B14F-4D97-AF65-F5344CB8AC3E}">
        <p14:creationId xmlns:p14="http://schemas.microsoft.com/office/powerpoint/2010/main" val="2947263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7C8A22-CBE0-5916-BAB7-E1F7C3C8975D}"/>
              </a:ext>
            </a:extLst>
          </p:cNvPr>
          <p:cNvSpPr txBox="1"/>
          <p:nvPr/>
        </p:nvSpPr>
        <p:spPr>
          <a:xfrm>
            <a:off x="827314" y="2275113"/>
            <a:ext cx="8316686" cy="2585323"/>
          </a:xfrm>
          <a:prstGeom prst="rect">
            <a:avLst/>
          </a:prstGeom>
          <a:noFill/>
        </p:spPr>
        <p:txBody>
          <a:bodyPr wrap="square">
            <a:spAutoFit/>
          </a:bodyPr>
          <a:lstStyle/>
          <a:p>
            <a:pPr marL="342900" indent="-342900">
              <a:buFont typeface="+mj-lt"/>
              <a:buAutoNum type="arabicPeriod"/>
            </a:pPr>
            <a:r>
              <a:rPr lang="en-IN" dirty="0">
                <a:latin typeface="Times New Roman" panose="02020603050405020304" pitchFamily="18" charset="0"/>
                <a:cs typeface="Times New Roman" panose="02020603050405020304" pitchFamily="18" charset="0"/>
              </a:rPr>
              <a:t>Year wise loan amount Stats</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Grade and sub grade wise </a:t>
            </a:r>
            <a:r>
              <a:rPr lang="en-IN" dirty="0" err="1">
                <a:latin typeface="Times New Roman" panose="02020603050405020304" pitchFamily="18" charset="0"/>
                <a:cs typeface="Times New Roman" panose="02020603050405020304" pitchFamily="18" charset="0"/>
              </a:rPr>
              <a:t>revol_bal</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Total Payment for Verified Status Vs Total Payment for Non Verified Status</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State wise and month wise loan status</a:t>
            </a: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Home ownership Vs last payment date stats</a:t>
            </a:r>
          </a:p>
        </p:txBody>
      </p:sp>
      <p:sp>
        <p:nvSpPr>
          <p:cNvPr id="5" name="TextBox 4">
            <a:extLst>
              <a:ext uri="{FF2B5EF4-FFF2-40B4-BE49-F238E27FC236}">
                <a16:creationId xmlns:a16="http://schemas.microsoft.com/office/drawing/2014/main" id="{347C6144-F683-6258-B006-3CFF9C257FC3}"/>
              </a:ext>
            </a:extLst>
          </p:cNvPr>
          <p:cNvSpPr txBox="1"/>
          <p:nvPr/>
        </p:nvSpPr>
        <p:spPr>
          <a:xfrm>
            <a:off x="653143" y="1099848"/>
            <a:ext cx="6096000" cy="523220"/>
          </a:xfrm>
          <a:prstGeom prst="rect">
            <a:avLst/>
          </a:prstGeom>
          <a:noFill/>
        </p:spPr>
        <p:txBody>
          <a:bodyPr wrap="square">
            <a:spAutoFit/>
          </a:bodyPr>
          <a:lstStyle/>
          <a:p>
            <a:r>
              <a:rPr lang="en-US" sz="2800" b="1" dirty="0">
                <a:latin typeface="+mj-lt"/>
              </a:rPr>
              <a:t>Main KPI’S</a:t>
            </a:r>
          </a:p>
        </p:txBody>
      </p:sp>
    </p:spTree>
    <p:extLst>
      <p:ext uri="{BB962C8B-B14F-4D97-AF65-F5344CB8AC3E}">
        <p14:creationId xmlns:p14="http://schemas.microsoft.com/office/powerpoint/2010/main" val="359773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8BE365-D7C8-D491-11BA-FF1248A0A040}"/>
              </a:ext>
            </a:extLst>
          </p:cNvPr>
          <p:cNvSpPr txBox="1"/>
          <p:nvPr/>
        </p:nvSpPr>
        <p:spPr>
          <a:xfrm>
            <a:off x="3995057" y="859038"/>
            <a:ext cx="7021286"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Analyzes the total loan amounts disbursed each year to identify trends and growth patterns over time.</a:t>
            </a:r>
          </a:p>
        </p:txBody>
      </p:sp>
      <p:sp>
        <p:nvSpPr>
          <p:cNvPr id="5" name="TextBox 4">
            <a:extLst>
              <a:ext uri="{FF2B5EF4-FFF2-40B4-BE49-F238E27FC236}">
                <a16:creationId xmlns:a16="http://schemas.microsoft.com/office/drawing/2014/main" id="{985CC05E-468E-028D-EA38-B8AA7C44C459}"/>
              </a:ext>
            </a:extLst>
          </p:cNvPr>
          <p:cNvSpPr txBox="1"/>
          <p:nvPr/>
        </p:nvSpPr>
        <p:spPr>
          <a:xfrm>
            <a:off x="652490" y="1079504"/>
            <a:ext cx="6096000"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KPI 1</a:t>
            </a:r>
            <a:r>
              <a:rPr kumimoji="0" lang="en-US" altLang="en-US" sz="2400" b="0" i="0" u="none" strike="noStrike" cap="none" normalizeH="0" baseline="0" dirty="0">
                <a:ln>
                  <a:noFill/>
                </a:ln>
                <a:solidFill>
                  <a:schemeClr val="tx1"/>
                </a:solidFill>
                <a:effectLst/>
                <a:latin typeface="Arial" panose="020B0604020202020204" pitchFamily="34" charset="0"/>
              </a:rPr>
              <a:t> </a:t>
            </a:r>
            <a:endParaRPr lang="en-US" sz="2400" dirty="0"/>
          </a:p>
        </p:txBody>
      </p:sp>
      <p:sp>
        <p:nvSpPr>
          <p:cNvPr id="6" name="Arrow: Right 5">
            <a:extLst>
              <a:ext uri="{FF2B5EF4-FFF2-40B4-BE49-F238E27FC236}">
                <a16:creationId xmlns:a16="http://schemas.microsoft.com/office/drawing/2014/main" id="{EA461A45-291C-B8D8-9696-BBAB53009E8E}"/>
              </a:ext>
            </a:extLst>
          </p:cNvPr>
          <p:cNvSpPr/>
          <p:nvPr/>
        </p:nvSpPr>
        <p:spPr>
          <a:xfrm>
            <a:off x="2611265" y="107950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B76C774-3F0D-CDF6-9CBE-EF82C9C48FC4}"/>
              </a:ext>
            </a:extLst>
          </p:cNvPr>
          <p:cNvSpPr txBox="1"/>
          <p:nvPr/>
        </p:nvSpPr>
        <p:spPr>
          <a:xfrm>
            <a:off x="4147457" y="1987621"/>
            <a:ext cx="7021286"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Examines the revolving balances associated with different loan grades and sub-grades to assess credit risk and borrower behavior.</a:t>
            </a:r>
          </a:p>
        </p:txBody>
      </p:sp>
      <p:sp>
        <p:nvSpPr>
          <p:cNvPr id="10" name="TextBox 9">
            <a:extLst>
              <a:ext uri="{FF2B5EF4-FFF2-40B4-BE49-F238E27FC236}">
                <a16:creationId xmlns:a16="http://schemas.microsoft.com/office/drawing/2014/main" id="{9971009A-06EB-84AB-1494-485FAFCED224}"/>
              </a:ext>
            </a:extLst>
          </p:cNvPr>
          <p:cNvSpPr txBox="1"/>
          <p:nvPr/>
        </p:nvSpPr>
        <p:spPr>
          <a:xfrm>
            <a:off x="652490" y="2175176"/>
            <a:ext cx="6096000"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KPI 2</a:t>
            </a:r>
            <a:endParaRPr lang="en-US" sz="2400" dirty="0"/>
          </a:p>
        </p:txBody>
      </p:sp>
      <p:sp>
        <p:nvSpPr>
          <p:cNvPr id="11" name="Arrow: Right 10">
            <a:extLst>
              <a:ext uri="{FF2B5EF4-FFF2-40B4-BE49-F238E27FC236}">
                <a16:creationId xmlns:a16="http://schemas.microsoft.com/office/drawing/2014/main" id="{0154BD6A-AF6E-A471-154A-23E1D66614C4}"/>
              </a:ext>
            </a:extLst>
          </p:cNvPr>
          <p:cNvSpPr/>
          <p:nvPr/>
        </p:nvSpPr>
        <p:spPr>
          <a:xfrm>
            <a:off x="2611265" y="217517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DE77A16-AE39-883F-34FF-52F12FEA1395}"/>
              </a:ext>
            </a:extLst>
          </p:cNvPr>
          <p:cNvSpPr txBox="1"/>
          <p:nvPr/>
        </p:nvSpPr>
        <p:spPr>
          <a:xfrm>
            <a:off x="4147457" y="3080404"/>
            <a:ext cx="7021286" cy="92333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Compares the total payments made by borrowers with verified income versus those with non-verified income to evaluate the impact of income verification on loan repayment.</a:t>
            </a:r>
          </a:p>
        </p:txBody>
      </p:sp>
      <p:sp>
        <p:nvSpPr>
          <p:cNvPr id="15" name="TextBox 14">
            <a:extLst>
              <a:ext uri="{FF2B5EF4-FFF2-40B4-BE49-F238E27FC236}">
                <a16:creationId xmlns:a16="http://schemas.microsoft.com/office/drawing/2014/main" id="{FE91D4BC-D983-008F-4594-A375622CD0B3}"/>
              </a:ext>
            </a:extLst>
          </p:cNvPr>
          <p:cNvSpPr txBox="1"/>
          <p:nvPr/>
        </p:nvSpPr>
        <p:spPr>
          <a:xfrm>
            <a:off x="652490" y="3546924"/>
            <a:ext cx="6096000"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KPI 3 </a:t>
            </a:r>
            <a:endParaRPr lang="en-US" sz="2400" dirty="0"/>
          </a:p>
        </p:txBody>
      </p:sp>
      <p:sp>
        <p:nvSpPr>
          <p:cNvPr id="16" name="Arrow: Right 15">
            <a:extLst>
              <a:ext uri="{FF2B5EF4-FFF2-40B4-BE49-F238E27FC236}">
                <a16:creationId xmlns:a16="http://schemas.microsoft.com/office/drawing/2014/main" id="{36AB005C-3AE1-0070-BA2D-A3A6D96203AA}"/>
              </a:ext>
            </a:extLst>
          </p:cNvPr>
          <p:cNvSpPr/>
          <p:nvPr/>
        </p:nvSpPr>
        <p:spPr>
          <a:xfrm>
            <a:off x="2611265" y="349957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C92DC2-27B5-D2A5-3E9A-4B834868B1F1}"/>
              </a:ext>
            </a:extLst>
          </p:cNvPr>
          <p:cNvSpPr txBox="1"/>
          <p:nvPr/>
        </p:nvSpPr>
        <p:spPr>
          <a:xfrm>
            <a:off x="4310743" y="4307728"/>
            <a:ext cx="6858000"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Tracks the status of loans across different states and months to identify regional and seasonal variations in loan performance.</a:t>
            </a:r>
          </a:p>
        </p:txBody>
      </p:sp>
      <p:sp>
        <p:nvSpPr>
          <p:cNvPr id="20" name="TextBox 19">
            <a:extLst>
              <a:ext uri="{FF2B5EF4-FFF2-40B4-BE49-F238E27FC236}">
                <a16:creationId xmlns:a16="http://schemas.microsoft.com/office/drawing/2014/main" id="{2E230B52-4DB1-E3F3-F77E-D72136A20598}"/>
              </a:ext>
            </a:extLst>
          </p:cNvPr>
          <p:cNvSpPr txBox="1"/>
          <p:nvPr/>
        </p:nvSpPr>
        <p:spPr>
          <a:xfrm>
            <a:off x="652490" y="4550389"/>
            <a:ext cx="6096000"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KPI 4 </a:t>
            </a:r>
            <a:endParaRPr lang="en-US" sz="2400" dirty="0"/>
          </a:p>
        </p:txBody>
      </p:sp>
      <p:sp>
        <p:nvSpPr>
          <p:cNvPr id="21" name="Arrow: Right 20">
            <a:extLst>
              <a:ext uri="{FF2B5EF4-FFF2-40B4-BE49-F238E27FC236}">
                <a16:creationId xmlns:a16="http://schemas.microsoft.com/office/drawing/2014/main" id="{8D2C1DB8-1136-25BC-7A70-09910CC914B2}"/>
              </a:ext>
            </a:extLst>
          </p:cNvPr>
          <p:cNvSpPr/>
          <p:nvPr/>
        </p:nvSpPr>
        <p:spPr>
          <a:xfrm>
            <a:off x="2611265" y="446942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8207F48-92B7-C404-791D-10B99043A8B0}"/>
              </a:ext>
            </a:extLst>
          </p:cNvPr>
          <p:cNvSpPr txBox="1"/>
          <p:nvPr/>
        </p:nvSpPr>
        <p:spPr>
          <a:xfrm>
            <a:off x="4474027" y="5093016"/>
            <a:ext cx="68580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Analyzes the relationship between borrowers’ home ownership status and their last payment dates to understand how home ownership influences loan repayment behavior.</a:t>
            </a:r>
          </a:p>
        </p:txBody>
      </p:sp>
      <p:sp>
        <p:nvSpPr>
          <p:cNvPr id="25" name="TextBox 24">
            <a:extLst>
              <a:ext uri="{FF2B5EF4-FFF2-40B4-BE49-F238E27FC236}">
                <a16:creationId xmlns:a16="http://schemas.microsoft.com/office/drawing/2014/main" id="{1428AB8A-644E-24D8-B207-15975A84BA6C}"/>
              </a:ext>
            </a:extLst>
          </p:cNvPr>
          <p:cNvSpPr txBox="1"/>
          <p:nvPr/>
        </p:nvSpPr>
        <p:spPr>
          <a:xfrm>
            <a:off x="696033" y="5553854"/>
            <a:ext cx="6096000"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KPI 5</a:t>
            </a:r>
            <a:r>
              <a:rPr kumimoji="0" lang="en-US" altLang="en-US" sz="2400" b="0" i="0" u="none" strike="noStrike" cap="none" normalizeH="0" baseline="0" dirty="0">
                <a:ln>
                  <a:noFill/>
                </a:ln>
                <a:solidFill>
                  <a:schemeClr val="tx1"/>
                </a:solidFill>
                <a:effectLst/>
                <a:latin typeface="Arial" panose="020B0604020202020204" pitchFamily="34" charset="0"/>
              </a:rPr>
              <a:t> </a:t>
            </a:r>
            <a:endParaRPr lang="en-US" sz="2400" dirty="0"/>
          </a:p>
        </p:txBody>
      </p:sp>
      <p:sp>
        <p:nvSpPr>
          <p:cNvPr id="26" name="Arrow: Right 25">
            <a:extLst>
              <a:ext uri="{FF2B5EF4-FFF2-40B4-BE49-F238E27FC236}">
                <a16:creationId xmlns:a16="http://schemas.microsoft.com/office/drawing/2014/main" id="{3C21403E-83AE-C20B-FB5F-0F9D6990D851}"/>
              </a:ext>
            </a:extLst>
          </p:cNvPr>
          <p:cNvSpPr/>
          <p:nvPr/>
        </p:nvSpPr>
        <p:spPr>
          <a:xfrm>
            <a:off x="2611265" y="541489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5876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3" name="Rectangle 12">
            <a:extLst>
              <a:ext uri="{FF2B5EF4-FFF2-40B4-BE49-F238E27FC236}">
                <a16:creationId xmlns:a16="http://schemas.microsoft.com/office/drawing/2014/main" id="{E2CFBC99-FB8F-41F7-A81D-A5288D688D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Description automatically generated">
            <a:extLst>
              <a:ext uri="{FF2B5EF4-FFF2-40B4-BE49-F238E27FC236}">
                <a16:creationId xmlns:a16="http://schemas.microsoft.com/office/drawing/2014/main" id="{9A6BC3AC-FB01-6579-300D-47D7A3BB49FB}"/>
              </a:ext>
            </a:extLst>
          </p:cNvPr>
          <p:cNvPicPr>
            <a:picLocks noChangeAspect="1"/>
          </p:cNvPicPr>
          <p:nvPr/>
        </p:nvPicPr>
        <p:blipFill>
          <a:blip r:embed="rId3">
            <a:extLst>
              <a:ext uri="{28A0092B-C50C-407E-A947-70E740481C1C}">
                <a14:useLocalDpi xmlns:a14="http://schemas.microsoft.com/office/drawing/2010/main" val="0"/>
              </a:ext>
            </a:extLst>
          </a:blip>
          <a:srcRect r="-1" b="17862"/>
          <a:stretch/>
        </p:blipFill>
        <p:spPr>
          <a:xfrm>
            <a:off x="20" y="10"/>
            <a:ext cx="12188932" cy="6857990"/>
          </a:xfrm>
          <a:prstGeom prst="rect">
            <a:avLst/>
          </a:prstGeom>
        </p:spPr>
      </p:pic>
      <p:sp>
        <p:nvSpPr>
          <p:cNvPr id="15" name="Rectangle 14">
            <a:extLst>
              <a:ext uri="{FF2B5EF4-FFF2-40B4-BE49-F238E27FC236}">
                <a16:creationId xmlns:a16="http://schemas.microsoft.com/office/drawing/2014/main" id="{1EF86BFA-9133-4F6B-98BE-1CBB87EB6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3666683"/>
            <a:ext cx="12188952" cy="3191317"/>
          </a:xfrm>
          <a:prstGeom prst="rect">
            <a:avLst/>
          </a:prstGeom>
          <a:gradFill>
            <a:gsLst>
              <a:gs pos="42000">
                <a:schemeClr val="bg1">
                  <a:alpha val="23000"/>
                </a:schemeClr>
              </a:gs>
              <a:gs pos="0">
                <a:schemeClr val="bg1">
                  <a:alpha val="0"/>
                </a:schemeClr>
              </a:gs>
              <a:gs pos="100000">
                <a:schemeClr val="bg1">
                  <a:alpha val="36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679A943-A543-355E-6655-E095AE84E2D4}"/>
              </a:ext>
            </a:extLst>
          </p:cNvPr>
          <p:cNvSpPr txBox="1"/>
          <p:nvPr/>
        </p:nvSpPr>
        <p:spPr>
          <a:xfrm>
            <a:off x="6095999" y="3834174"/>
            <a:ext cx="5257800" cy="170157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b="1" i="1">
                <a:latin typeface="+mj-lt"/>
                <a:ea typeface="+mj-ea"/>
                <a:cs typeface="+mj-cs"/>
              </a:rPr>
              <a:t>Excel Dashboard</a:t>
            </a:r>
          </a:p>
        </p:txBody>
      </p:sp>
    </p:spTree>
    <p:extLst>
      <p:ext uri="{BB962C8B-B14F-4D97-AF65-F5344CB8AC3E}">
        <p14:creationId xmlns:p14="http://schemas.microsoft.com/office/powerpoint/2010/main" val="1738028835"/>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A14977B-0CF4-BE28-7F25-A8BBAE83F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202" y="716661"/>
            <a:ext cx="10516397" cy="5941765"/>
          </a:xfrm>
          <a:prstGeom prst="rect">
            <a:avLst/>
          </a:prstGeom>
        </p:spPr>
      </p:pic>
      <p:sp>
        <p:nvSpPr>
          <p:cNvPr id="5" name="TextBox 4">
            <a:extLst>
              <a:ext uri="{FF2B5EF4-FFF2-40B4-BE49-F238E27FC236}">
                <a16:creationId xmlns:a16="http://schemas.microsoft.com/office/drawing/2014/main" id="{D6C969F9-75E9-8275-56DC-4A69F56B5642}"/>
              </a:ext>
            </a:extLst>
          </p:cNvPr>
          <p:cNvSpPr txBox="1"/>
          <p:nvPr/>
        </p:nvSpPr>
        <p:spPr>
          <a:xfrm>
            <a:off x="380203" y="305191"/>
            <a:ext cx="6096000" cy="461665"/>
          </a:xfrm>
          <a:prstGeom prst="rect">
            <a:avLst/>
          </a:prstGeom>
          <a:noFill/>
        </p:spPr>
        <p:txBody>
          <a:bodyPr wrap="square">
            <a:spAutoFit/>
          </a:bodyPr>
          <a:lstStyle/>
          <a:p>
            <a:pPr algn="just"/>
            <a:r>
              <a:rPr lang="en-US" sz="2400" dirty="0">
                <a:latin typeface="+mj-lt"/>
              </a:rPr>
              <a:t>POWER BI DASHBOARD</a:t>
            </a:r>
          </a:p>
        </p:txBody>
      </p:sp>
    </p:spTree>
    <p:extLst>
      <p:ext uri="{BB962C8B-B14F-4D97-AF65-F5344CB8AC3E}">
        <p14:creationId xmlns:p14="http://schemas.microsoft.com/office/powerpoint/2010/main" val="3218519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12DFF9-078B-8A00-8A2A-3FC4081B220F}"/>
              </a:ext>
            </a:extLst>
          </p:cNvPr>
          <p:cNvSpPr txBox="1"/>
          <p:nvPr/>
        </p:nvSpPr>
        <p:spPr>
          <a:xfrm>
            <a:off x="337457" y="403162"/>
            <a:ext cx="6096000" cy="461665"/>
          </a:xfrm>
          <a:prstGeom prst="rect">
            <a:avLst/>
          </a:prstGeom>
          <a:noFill/>
        </p:spPr>
        <p:txBody>
          <a:bodyPr wrap="square">
            <a:spAutoFit/>
          </a:bodyPr>
          <a:lstStyle/>
          <a:p>
            <a:r>
              <a:rPr lang="en-US" sz="2400" dirty="0">
                <a:latin typeface="+mj-lt"/>
              </a:rPr>
              <a:t>TABLEAU  DASHBOARD</a:t>
            </a:r>
          </a:p>
        </p:txBody>
      </p:sp>
      <p:pic>
        <p:nvPicPr>
          <p:cNvPr id="5" name="Picture 4">
            <a:extLst>
              <a:ext uri="{FF2B5EF4-FFF2-40B4-BE49-F238E27FC236}">
                <a16:creationId xmlns:a16="http://schemas.microsoft.com/office/drawing/2014/main" id="{47DC9806-0E4A-98ED-D56B-B0ACB5865598}"/>
              </a:ext>
            </a:extLst>
          </p:cNvPr>
          <p:cNvPicPr>
            <a:picLocks noChangeAspect="1"/>
          </p:cNvPicPr>
          <p:nvPr/>
        </p:nvPicPr>
        <p:blipFill>
          <a:blip r:embed="rId3"/>
          <a:stretch>
            <a:fillRect/>
          </a:stretch>
        </p:blipFill>
        <p:spPr>
          <a:xfrm>
            <a:off x="185057" y="1099457"/>
            <a:ext cx="11638878" cy="5531565"/>
          </a:xfrm>
          <a:prstGeom prst="rect">
            <a:avLst/>
          </a:prstGeom>
        </p:spPr>
      </p:pic>
    </p:spTree>
    <p:extLst>
      <p:ext uri="{BB962C8B-B14F-4D97-AF65-F5344CB8AC3E}">
        <p14:creationId xmlns:p14="http://schemas.microsoft.com/office/powerpoint/2010/main" val="4082245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DE77E0-B22A-97D5-38D4-6A9299979251}"/>
              </a:ext>
            </a:extLst>
          </p:cNvPr>
          <p:cNvPicPr>
            <a:picLocks noChangeAspect="1"/>
          </p:cNvPicPr>
          <p:nvPr/>
        </p:nvPicPr>
        <p:blipFill>
          <a:blip r:embed="rId3"/>
          <a:stretch>
            <a:fillRect/>
          </a:stretch>
        </p:blipFill>
        <p:spPr>
          <a:xfrm>
            <a:off x="425754" y="1115092"/>
            <a:ext cx="7923589" cy="2575166"/>
          </a:xfrm>
          <a:prstGeom prst="rect">
            <a:avLst/>
          </a:prstGeom>
        </p:spPr>
      </p:pic>
      <p:pic>
        <p:nvPicPr>
          <p:cNvPr id="5" name="Picture 4">
            <a:extLst>
              <a:ext uri="{FF2B5EF4-FFF2-40B4-BE49-F238E27FC236}">
                <a16:creationId xmlns:a16="http://schemas.microsoft.com/office/drawing/2014/main" id="{C5D58BF4-F5B8-5C3F-0AF5-6F4F0A198628}"/>
              </a:ext>
            </a:extLst>
          </p:cNvPr>
          <p:cNvPicPr>
            <a:picLocks noChangeAspect="1"/>
          </p:cNvPicPr>
          <p:nvPr/>
        </p:nvPicPr>
        <p:blipFill>
          <a:blip r:embed="rId4"/>
          <a:stretch>
            <a:fillRect/>
          </a:stretch>
        </p:blipFill>
        <p:spPr>
          <a:xfrm>
            <a:off x="3928442" y="4021674"/>
            <a:ext cx="7719273" cy="2296482"/>
          </a:xfrm>
          <a:prstGeom prst="rect">
            <a:avLst/>
          </a:prstGeom>
        </p:spPr>
      </p:pic>
      <p:sp>
        <p:nvSpPr>
          <p:cNvPr id="9" name="TextBox 8">
            <a:extLst>
              <a:ext uri="{FF2B5EF4-FFF2-40B4-BE49-F238E27FC236}">
                <a16:creationId xmlns:a16="http://schemas.microsoft.com/office/drawing/2014/main" id="{6D91531D-3F1E-0498-FB1A-DE6054035CDD}"/>
              </a:ext>
            </a:extLst>
          </p:cNvPr>
          <p:cNvSpPr txBox="1"/>
          <p:nvPr/>
        </p:nvSpPr>
        <p:spPr>
          <a:xfrm>
            <a:off x="575642" y="355178"/>
            <a:ext cx="6096000" cy="461665"/>
          </a:xfrm>
          <a:prstGeom prst="rect">
            <a:avLst/>
          </a:prstGeom>
          <a:noFill/>
        </p:spPr>
        <p:txBody>
          <a:bodyPr wrap="square">
            <a:spAutoFit/>
          </a:bodyPr>
          <a:lstStyle/>
          <a:p>
            <a:r>
              <a:rPr lang="en-US" sz="2400" dirty="0">
                <a:latin typeface="+mj-lt"/>
              </a:rPr>
              <a:t>MYSQL Queries</a:t>
            </a:r>
          </a:p>
        </p:txBody>
      </p:sp>
    </p:spTree>
    <p:extLst>
      <p:ext uri="{BB962C8B-B14F-4D97-AF65-F5344CB8AC3E}">
        <p14:creationId xmlns:p14="http://schemas.microsoft.com/office/powerpoint/2010/main" val="47213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4E08B1-AE9D-26B8-F042-CC3B728E0F9E}"/>
              </a:ext>
            </a:extLst>
          </p:cNvPr>
          <p:cNvPicPr>
            <a:picLocks noChangeAspect="1"/>
          </p:cNvPicPr>
          <p:nvPr/>
        </p:nvPicPr>
        <p:blipFill>
          <a:blip r:embed="rId2"/>
          <a:stretch>
            <a:fillRect/>
          </a:stretch>
        </p:blipFill>
        <p:spPr>
          <a:xfrm>
            <a:off x="413657" y="547023"/>
            <a:ext cx="8501744" cy="3067873"/>
          </a:xfrm>
          <a:prstGeom prst="rect">
            <a:avLst/>
          </a:prstGeom>
        </p:spPr>
      </p:pic>
      <p:pic>
        <p:nvPicPr>
          <p:cNvPr id="5" name="Picture 4">
            <a:extLst>
              <a:ext uri="{FF2B5EF4-FFF2-40B4-BE49-F238E27FC236}">
                <a16:creationId xmlns:a16="http://schemas.microsoft.com/office/drawing/2014/main" id="{18E6D343-CB2F-AAD5-CD7C-0209DACE083C}"/>
              </a:ext>
            </a:extLst>
          </p:cNvPr>
          <p:cNvPicPr>
            <a:picLocks noChangeAspect="1"/>
          </p:cNvPicPr>
          <p:nvPr/>
        </p:nvPicPr>
        <p:blipFill>
          <a:blip r:embed="rId3"/>
          <a:stretch>
            <a:fillRect/>
          </a:stretch>
        </p:blipFill>
        <p:spPr>
          <a:xfrm>
            <a:off x="1519199" y="3942534"/>
            <a:ext cx="10307488" cy="1933845"/>
          </a:xfrm>
          <a:prstGeom prst="rect">
            <a:avLst/>
          </a:prstGeom>
        </p:spPr>
      </p:pic>
    </p:spTree>
    <p:extLst>
      <p:ext uri="{BB962C8B-B14F-4D97-AF65-F5344CB8AC3E}">
        <p14:creationId xmlns:p14="http://schemas.microsoft.com/office/powerpoint/2010/main" val="2425992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1F7150-38C7-5FAA-0A63-E168B56A2E8D}"/>
              </a:ext>
            </a:extLst>
          </p:cNvPr>
          <p:cNvPicPr>
            <a:picLocks noChangeAspect="1"/>
          </p:cNvPicPr>
          <p:nvPr/>
        </p:nvPicPr>
        <p:blipFill>
          <a:blip r:embed="rId2"/>
          <a:stretch>
            <a:fillRect/>
          </a:stretch>
        </p:blipFill>
        <p:spPr>
          <a:xfrm>
            <a:off x="643467" y="1207093"/>
            <a:ext cx="10905066" cy="4443814"/>
          </a:xfrm>
          <a:prstGeom prst="rect">
            <a:avLst/>
          </a:prstGeom>
        </p:spPr>
      </p:pic>
    </p:spTree>
    <p:extLst>
      <p:ext uri="{BB962C8B-B14F-4D97-AF65-F5344CB8AC3E}">
        <p14:creationId xmlns:p14="http://schemas.microsoft.com/office/powerpoint/2010/main" val="3644424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8A1D76-853C-9A4C-BA26-4E29E9A3CDE2}"/>
              </a:ext>
            </a:extLst>
          </p:cNvPr>
          <p:cNvSpPr txBox="1"/>
          <p:nvPr/>
        </p:nvSpPr>
        <p:spPr>
          <a:xfrm>
            <a:off x="511629" y="1338943"/>
            <a:ext cx="9753600" cy="646331"/>
          </a:xfrm>
          <a:prstGeom prst="rect">
            <a:avLst/>
          </a:prstGeom>
          <a:noFill/>
        </p:spPr>
        <p:txBody>
          <a:bodyPr wrap="square">
            <a:spAutoFit/>
          </a:bodyPr>
          <a:lstStyle/>
          <a:p>
            <a:pPr algn="just"/>
            <a:r>
              <a:rPr lang="en-US" b="0" i="0" dirty="0">
                <a:solidFill>
                  <a:srgbClr val="111111"/>
                </a:solidFill>
                <a:effectLst/>
                <a:latin typeface="-apple-system"/>
              </a:rPr>
              <a:t>The analysis shows a steady increase in loan amounts over the years, indicating growing demand for loans and possibly an expanding customer base.</a:t>
            </a:r>
            <a:endParaRPr lang="en-US" dirty="0"/>
          </a:p>
        </p:txBody>
      </p:sp>
      <p:sp>
        <p:nvSpPr>
          <p:cNvPr id="5" name="TextBox 4">
            <a:extLst>
              <a:ext uri="{FF2B5EF4-FFF2-40B4-BE49-F238E27FC236}">
                <a16:creationId xmlns:a16="http://schemas.microsoft.com/office/drawing/2014/main" id="{9A84F6B5-F20C-D6CB-003F-6ED7EF492C7F}"/>
              </a:ext>
            </a:extLst>
          </p:cNvPr>
          <p:cNvSpPr txBox="1"/>
          <p:nvPr/>
        </p:nvSpPr>
        <p:spPr>
          <a:xfrm>
            <a:off x="631372" y="522905"/>
            <a:ext cx="6096000" cy="461665"/>
          </a:xfrm>
          <a:prstGeom prst="rect">
            <a:avLst/>
          </a:prstGeom>
          <a:noFill/>
        </p:spPr>
        <p:txBody>
          <a:bodyPr wrap="square">
            <a:spAutoFit/>
          </a:bodyPr>
          <a:lstStyle/>
          <a:p>
            <a:r>
              <a:rPr lang="en-US" sz="2400" dirty="0">
                <a:latin typeface="+mj-lt"/>
              </a:rPr>
              <a:t>Insights</a:t>
            </a:r>
          </a:p>
        </p:txBody>
      </p:sp>
      <p:sp>
        <p:nvSpPr>
          <p:cNvPr id="7" name="TextBox 6">
            <a:extLst>
              <a:ext uri="{FF2B5EF4-FFF2-40B4-BE49-F238E27FC236}">
                <a16:creationId xmlns:a16="http://schemas.microsoft.com/office/drawing/2014/main" id="{50F3BF71-73E5-C49C-29CA-1398B9AF9756}"/>
              </a:ext>
            </a:extLst>
          </p:cNvPr>
          <p:cNvSpPr txBox="1"/>
          <p:nvPr/>
        </p:nvSpPr>
        <p:spPr>
          <a:xfrm>
            <a:off x="511627" y="2252561"/>
            <a:ext cx="9753599" cy="646331"/>
          </a:xfrm>
          <a:prstGeom prst="rect">
            <a:avLst/>
          </a:prstGeom>
          <a:noFill/>
        </p:spPr>
        <p:txBody>
          <a:bodyPr wrap="square">
            <a:spAutoFit/>
          </a:bodyPr>
          <a:lstStyle/>
          <a:p>
            <a:pPr algn="just"/>
            <a:r>
              <a:rPr lang="en-US" b="0" i="0" dirty="0">
                <a:solidFill>
                  <a:srgbClr val="111111"/>
                </a:solidFill>
                <a:effectLst/>
                <a:latin typeface="-apple-system"/>
              </a:rPr>
              <a:t>Higher revolving balances are associated with lower-grade loans, suggesting that borrowers with lower credit grades tend to carry more debt, which could indicate higher credit risk</a:t>
            </a:r>
            <a:endParaRPr lang="en-US" dirty="0"/>
          </a:p>
        </p:txBody>
      </p:sp>
      <p:sp>
        <p:nvSpPr>
          <p:cNvPr id="9" name="TextBox 8">
            <a:extLst>
              <a:ext uri="{FF2B5EF4-FFF2-40B4-BE49-F238E27FC236}">
                <a16:creationId xmlns:a16="http://schemas.microsoft.com/office/drawing/2014/main" id="{D26AFBA8-621C-9951-052B-025C72F6019D}"/>
              </a:ext>
            </a:extLst>
          </p:cNvPr>
          <p:cNvSpPr txBox="1"/>
          <p:nvPr/>
        </p:nvSpPr>
        <p:spPr>
          <a:xfrm>
            <a:off x="511627" y="3312778"/>
            <a:ext cx="9851573" cy="646331"/>
          </a:xfrm>
          <a:prstGeom prst="rect">
            <a:avLst/>
          </a:prstGeom>
          <a:noFill/>
        </p:spPr>
        <p:txBody>
          <a:bodyPr wrap="square">
            <a:spAutoFit/>
          </a:bodyPr>
          <a:lstStyle/>
          <a:p>
            <a:pPr algn="just"/>
            <a:r>
              <a:rPr lang="en-US" b="0" i="0" dirty="0">
                <a:solidFill>
                  <a:srgbClr val="111111"/>
                </a:solidFill>
                <a:effectLst/>
                <a:latin typeface="-apple-system"/>
              </a:rPr>
              <a:t>Borrowers with verified income tend to make higher total payments compared to non-verified borrowers, highlighting the importance of income verification in ensuring loan repayment.</a:t>
            </a:r>
            <a:endParaRPr lang="en-US" dirty="0"/>
          </a:p>
        </p:txBody>
      </p:sp>
      <p:sp>
        <p:nvSpPr>
          <p:cNvPr id="11" name="TextBox 10">
            <a:extLst>
              <a:ext uri="{FF2B5EF4-FFF2-40B4-BE49-F238E27FC236}">
                <a16:creationId xmlns:a16="http://schemas.microsoft.com/office/drawing/2014/main" id="{A0E30D39-AEF7-8660-BFA2-65B02710BF13}"/>
              </a:ext>
            </a:extLst>
          </p:cNvPr>
          <p:cNvSpPr txBox="1"/>
          <p:nvPr/>
        </p:nvSpPr>
        <p:spPr>
          <a:xfrm>
            <a:off x="511627" y="4226396"/>
            <a:ext cx="9851573" cy="922547"/>
          </a:xfrm>
          <a:prstGeom prst="rect">
            <a:avLst/>
          </a:prstGeom>
          <a:noFill/>
        </p:spPr>
        <p:txBody>
          <a:bodyPr wrap="square">
            <a:spAutoFit/>
          </a:bodyPr>
          <a:lstStyle/>
          <a:p>
            <a:pPr algn="just"/>
            <a:r>
              <a:rPr lang="en-US" b="0" i="0" dirty="0">
                <a:solidFill>
                  <a:srgbClr val="111111"/>
                </a:solidFill>
                <a:effectLst/>
                <a:latin typeface="-apple-system"/>
              </a:rPr>
              <a:t>Certain states show higher rates of loan defaults, and there are seasonal trends in loan performance, with higher defaults observed during certain months, possibly due to economic cycles or seasonal expenses.</a:t>
            </a:r>
            <a:endParaRPr lang="en-US" dirty="0"/>
          </a:p>
        </p:txBody>
      </p:sp>
      <p:sp>
        <p:nvSpPr>
          <p:cNvPr id="13" name="TextBox 12">
            <a:extLst>
              <a:ext uri="{FF2B5EF4-FFF2-40B4-BE49-F238E27FC236}">
                <a16:creationId xmlns:a16="http://schemas.microsoft.com/office/drawing/2014/main" id="{64471A47-D949-1854-1840-33F9E408E872}"/>
              </a:ext>
            </a:extLst>
          </p:cNvPr>
          <p:cNvSpPr txBox="1"/>
          <p:nvPr/>
        </p:nvSpPr>
        <p:spPr>
          <a:xfrm>
            <a:off x="511627" y="5416230"/>
            <a:ext cx="9851573" cy="646331"/>
          </a:xfrm>
          <a:prstGeom prst="rect">
            <a:avLst/>
          </a:prstGeom>
          <a:noFill/>
        </p:spPr>
        <p:txBody>
          <a:bodyPr wrap="square">
            <a:spAutoFit/>
          </a:bodyPr>
          <a:lstStyle/>
          <a:p>
            <a:r>
              <a:rPr lang="en-US" b="0" i="0" dirty="0">
                <a:solidFill>
                  <a:srgbClr val="111111"/>
                </a:solidFill>
                <a:effectLst/>
                <a:latin typeface="-apple-system"/>
              </a:rPr>
              <a:t>Homeowners generally have more consistent payment histories compared to renters, indicating that home ownership might be a factor in better loan repayment behavior.</a:t>
            </a:r>
            <a:endParaRPr lang="en-US" dirty="0"/>
          </a:p>
        </p:txBody>
      </p:sp>
    </p:spTree>
    <p:extLst>
      <p:ext uri="{BB962C8B-B14F-4D97-AF65-F5344CB8AC3E}">
        <p14:creationId xmlns:p14="http://schemas.microsoft.com/office/powerpoint/2010/main" val="259392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9A6B25-702F-8751-A59E-A5E21F541A26}"/>
              </a:ext>
            </a:extLst>
          </p:cNvPr>
          <p:cNvSpPr txBox="1"/>
          <p:nvPr/>
        </p:nvSpPr>
        <p:spPr>
          <a:xfrm>
            <a:off x="391885" y="1502230"/>
            <a:ext cx="10831286" cy="2862322"/>
          </a:xfrm>
          <a:prstGeom prst="rect">
            <a:avLst/>
          </a:prstGeom>
          <a:noFill/>
        </p:spPr>
        <p:txBody>
          <a:bodyPr wrap="square">
            <a:spAutoFit/>
          </a:bodyPr>
          <a:lstStyle/>
          <a:p>
            <a:pPr algn="l"/>
            <a:br>
              <a:rPr lang="en-US" b="0" i="0" dirty="0">
                <a:effectLst/>
                <a:latin typeface="Segoe UI" panose="020B0502040204020203" pitchFamily="34" charset="0"/>
              </a:rPr>
            </a:br>
            <a:r>
              <a:rPr lang="en-US" sz="1800" b="0" i="0" dirty="0">
                <a:effectLst/>
                <a:latin typeface="Segoe UI" panose="020B0502040204020203" pitchFamily="34" charset="0"/>
              </a:rPr>
              <a:t>Targeted Marketing: Focus on promoting debt consolidation and credit card loans to potential borrowers.</a:t>
            </a:r>
            <a:endParaRPr lang="en-US" b="0" i="0" dirty="0">
              <a:effectLst/>
              <a:latin typeface="Segoe UI" panose="020B0502040204020203" pitchFamily="34" charset="0"/>
            </a:endParaRPr>
          </a:p>
          <a:p>
            <a:pPr algn="just"/>
            <a:r>
              <a:rPr lang="en-US" sz="1800" b="0" i="0" dirty="0">
                <a:effectLst/>
                <a:latin typeface="Segoe UI" panose="020B0502040204020203" pitchFamily="34" charset="0"/>
              </a:rPr>
              <a:t>Risk Assessment: Enhance credit risk assessment models to evaluate borrowers' ability to manage longer-term loans.</a:t>
            </a:r>
            <a:endParaRPr lang="en-US" b="0" i="0" dirty="0">
              <a:effectLst/>
              <a:latin typeface="Segoe UI" panose="020B0502040204020203" pitchFamily="34" charset="0"/>
            </a:endParaRPr>
          </a:p>
          <a:p>
            <a:pPr algn="just"/>
            <a:r>
              <a:rPr lang="en-US" sz="1800" b="0" i="0" dirty="0">
                <a:effectLst/>
                <a:latin typeface="Segoe UI" panose="020B0502040204020203" pitchFamily="34" charset="0"/>
              </a:rPr>
              <a:t>Customer Engagement: Implement strategies to improve customer engagement and reduce loan delinquency rates.</a:t>
            </a:r>
            <a:endParaRPr lang="en-US" b="0" i="0" dirty="0">
              <a:effectLst/>
              <a:latin typeface="Segoe UI" panose="020B0502040204020203" pitchFamily="34" charset="0"/>
            </a:endParaRPr>
          </a:p>
          <a:p>
            <a:pPr algn="just"/>
            <a:r>
              <a:rPr lang="en-US" sz="1800" b="0" i="0" dirty="0">
                <a:effectLst/>
                <a:latin typeface="Segoe UI" panose="020B0502040204020203" pitchFamily="34" charset="0"/>
              </a:rPr>
              <a:t>Geographic Expansion: Consider expanding operations to regions with high growth potential, such as California, New York, and Texas.</a:t>
            </a:r>
            <a:endParaRPr lang="en-US" b="0" i="0" dirty="0">
              <a:effectLst/>
              <a:latin typeface="Segoe UI" panose="020B0502040204020203" pitchFamily="34" charset="0"/>
            </a:endParaRPr>
          </a:p>
          <a:p>
            <a:pPr algn="just"/>
            <a:r>
              <a:rPr lang="en-US" sz="1800" b="0" i="0" dirty="0">
                <a:effectLst/>
                <a:latin typeface="Segoe UI" panose="020B0502040204020203" pitchFamily="34" charset="0"/>
              </a:rPr>
              <a:t>Product Diversification: Explore opportunities to offer additional loan products tailored to specific customer needs.</a:t>
            </a:r>
            <a:endParaRPr lang="en-US" b="0" i="0" dirty="0">
              <a:effectLst/>
              <a:latin typeface="Segoe UI" panose="020B0502040204020203" pitchFamily="34" charset="0"/>
            </a:endParaRPr>
          </a:p>
        </p:txBody>
      </p:sp>
      <p:sp>
        <p:nvSpPr>
          <p:cNvPr id="5" name="TextBox 4">
            <a:extLst>
              <a:ext uri="{FF2B5EF4-FFF2-40B4-BE49-F238E27FC236}">
                <a16:creationId xmlns:a16="http://schemas.microsoft.com/office/drawing/2014/main" id="{7C35EB5A-0B6F-3E67-6B1B-1418E5780AF7}"/>
              </a:ext>
            </a:extLst>
          </p:cNvPr>
          <p:cNvSpPr txBox="1"/>
          <p:nvPr/>
        </p:nvSpPr>
        <p:spPr>
          <a:xfrm>
            <a:off x="283028" y="370505"/>
            <a:ext cx="6096000" cy="523220"/>
          </a:xfrm>
          <a:prstGeom prst="rect">
            <a:avLst/>
          </a:prstGeom>
          <a:noFill/>
        </p:spPr>
        <p:txBody>
          <a:bodyPr wrap="square">
            <a:spAutoFit/>
          </a:bodyPr>
          <a:lstStyle/>
          <a:p>
            <a:pPr algn="l"/>
            <a:r>
              <a:rPr lang="en-US" sz="2800" b="1" i="0" dirty="0">
                <a:effectLst/>
                <a:latin typeface="+mj-lt"/>
              </a:rPr>
              <a:t>Recommendations</a:t>
            </a:r>
            <a:endParaRPr lang="en-US" sz="2800" b="0" i="0" dirty="0">
              <a:effectLst/>
              <a:latin typeface="+mj-lt"/>
            </a:endParaRPr>
          </a:p>
        </p:txBody>
      </p:sp>
    </p:spTree>
    <p:extLst>
      <p:ext uri="{BB962C8B-B14F-4D97-AF65-F5344CB8AC3E}">
        <p14:creationId xmlns:p14="http://schemas.microsoft.com/office/powerpoint/2010/main" val="511278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0AA6C4-DAEF-20D9-36AE-E58715F01593}"/>
              </a:ext>
            </a:extLst>
          </p:cNvPr>
          <p:cNvSpPr txBox="1"/>
          <p:nvPr/>
        </p:nvSpPr>
        <p:spPr>
          <a:xfrm>
            <a:off x="707571" y="1861458"/>
            <a:ext cx="10482943" cy="2031325"/>
          </a:xfrm>
          <a:prstGeom prst="rect">
            <a:avLst/>
          </a:prstGeom>
          <a:noFill/>
        </p:spPr>
        <p:txBody>
          <a:bodyPr wrap="square">
            <a:spAutoFit/>
          </a:bodyPr>
          <a:lstStyle/>
          <a:p>
            <a:pPr algn="just"/>
            <a:r>
              <a:rPr lang="en-US" b="0" i="0" dirty="0">
                <a:solidFill>
                  <a:srgbClr val="111111"/>
                </a:solidFill>
                <a:effectLst/>
                <a:latin typeface="-apple-system"/>
              </a:rPr>
              <a:t>the Bank Analytics project provides a comprehensive analysis of loan data, focusing on key performance indicators such as year-wise loan amounts, grade and sub-grade wise revolving balances, total payments for verified vs. non-verified statuses, state-wise and month-wise loan statuses, and home ownership vs. last payment date statistics. The insights derived from this analysis highlight trends in loan disbursements, credit risk associated with different loan grades, the impact of income verification on repayment, regional and seasonal variations in loan performance, and the influence of home ownership on payment behavior. These findings are crucial for making informed financial decisions and improving loan management strategies.</a:t>
            </a:r>
            <a:endParaRPr lang="en-US" dirty="0"/>
          </a:p>
        </p:txBody>
      </p:sp>
      <p:sp>
        <p:nvSpPr>
          <p:cNvPr id="5" name="TextBox 4">
            <a:extLst>
              <a:ext uri="{FF2B5EF4-FFF2-40B4-BE49-F238E27FC236}">
                <a16:creationId xmlns:a16="http://schemas.microsoft.com/office/drawing/2014/main" id="{5C40FF32-5D49-D94A-C33C-C3C140840678}"/>
              </a:ext>
            </a:extLst>
          </p:cNvPr>
          <p:cNvSpPr txBox="1"/>
          <p:nvPr/>
        </p:nvSpPr>
        <p:spPr>
          <a:xfrm>
            <a:off x="435429" y="795048"/>
            <a:ext cx="6096000" cy="523220"/>
          </a:xfrm>
          <a:prstGeom prst="rect">
            <a:avLst/>
          </a:prstGeom>
          <a:noFill/>
        </p:spPr>
        <p:txBody>
          <a:bodyPr wrap="square">
            <a:spAutoFit/>
          </a:bodyPr>
          <a:lstStyle/>
          <a:p>
            <a:r>
              <a:rPr lang="en-US" sz="2800" dirty="0">
                <a:latin typeface="+mj-lt"/>
              </a:rPr>
              <a:t>Conclusion</a:t>
            </a:r>
          </a:p>
        </p:txBody>
      </p:sp>
    </p:spTree>
    <p:extLst>
      <p:ext uri="{BB962C8B-B14F-4D97-AF65-F5344CB8AC3E}">
        <p14:creationId xmlns:p14="http://schemas.microsoft.com/office/powerpoint/2010/main" val="2825088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6" name="Rectangle 15">
            <a:extLst>
              <a:ext uri="{FF2B5EF4-FFF2-40B4-BE49-F238E27FC236}">
                <a16:creationId xmlns:a16="http://schemas.microsoft.com/office/drawing/2014/main" id="{D839A9B9-F246-4779-A2BA-7AD3DAB54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9E024F3-A5A0-23C4-988D-5D610403CAA7}"/>
              </a:ext>
            </a:extLst>
          </p:cNvPr>
          <p:cNvSpPr txBox="1"/>
          <p:nvPr/>
        </p:nvSpPr>
        <p:spPr>
          <a:xfrm>
            <a:off x="1524000" y="1834964"/>
            <a:ext cx="9144000" cy="238760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000" i="1">
                <a:latin typeface="+mj-lt"/>
                <a:ea typeface="+mj-ea"/>
                <a:cs typeface="+mj-cs"/>
              </a:rPr>
              <a:t>Thank You !</a:t>
            </a:r>
          </a:p>
        </p:txBody>
      </p:sp>
      <p:sp>
        <p:nvSpPr>
          <p:cNvPr id="17" name="Freeform: Shape 16">
            <a:extLst>
              <a:ext uri="{FF2B5EF4-FFF2-40B4-BE49-F238E27FC236}">
                <a16:creationId xmlns:a16="http://schemas.microsoft.com/office/drawing/2014/main" id="{689FF3C7-B796-4C63-BF20-B2EE568883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96" y="1"/>
            <a:ext cx="11282409" cy="2930115"/>
          </a:xfrm>
          <a:custGeom>
            <a:avLst/>
            <a:gdLst>
              <a:gd name="connsiteX0" fmla="*/ 1277174 w 11282409"/>
              <a:gd name="connsiteY0" fmla="*/ 0 h 2930115"/>
              <a:gd name="connsiteX1" fmla="*/ 11077320 w 11282409"/>
              <a:gd name="connsiteY1" fmla="*/ 0 h 2930115"/>
              <a:gd name="connsiteX2" fmla="*/ 10933044 w 11282409"/>
              <a:gd name="connsiteY2" fmla="*/ 93916 h 2930115"/>
              <a:gd name="connsiteX3" fmla="*/ 11087630 w 11282409"/>
              <a:gd name="connsiteY3" fmla="*/ 165214 h 2930115"/>
              <a:gd name="connsiteX4" fmla="*/ 10401271 w 11282409"/>
              <a:gd name="connsiteY4" fmla="*/ 582307 h 2930115"/>
              <a:gd name="connsiteX5" fmla="*/ 11038163 w 11282409"/>
              <a:gd name="connsiteY5" fmla="*/ 511009 h 2930115"/>
              <a:gd name="connsiteX6" fmla="*/ 11004154 w 11282409"/>
              <a:gd name="connsiteY6" fmla="*/ 568047 h 2930115"/>
              <a:gd name="connsiteX7" fmla="*/ 10970146 w 11282409"/>
              <a:gd name="connsiteY7" fmla="*/ 625085 h 2930115"/>
              <a:gd name="connsiteX8" fmla="*/ 11270042 w 11282409"/>
              <a:gd name="connsiteY8" fmla="*/ 589437 h 2930115"/>
              <a:gd name="connsiteX9" fmla="*/ 11270042 w 11282409"/>
              <a:gd name="connsiteY9" fmla="*/ 650039 h 2930115"/>
              <a:gd name="connsiteX10" fmla="*/ 11177291 w 11282409"/>
              <a:gd name="connsiteY10" fmla="*/ 721337 h 2930115"/>
              <a:gd name="connsiteX11" fmla="*/ 11270042 w 11282409"/>
              <a:gd name="connsiteY11" fmla="*/ 703512 h 2930115"/>
              <a:gd name="connsiteX12" fmla="*/ 11282409 w 11282409"/>
              <a:gd name="connsiteY12" fmla="*/ 703512 h 2930115"/>
              <a:gd name="connsiteX13" fmla="*/ 11282409 w 11282409"/>
              <a:gd name="connsiteY13" fmla="*/ 981574 h 2930115"/>
              <a:gd name="connsiteX14" fmla="*/ 4053985 w 11282409"/>
              <a:gd name="connsiteY14" fmla="*/ 2928005 h 2930115"/>
              <a:gd name="connsiteX15" fmla="*/ 3386175 w 11282409"/>
              <a:gd name="connsiteY15" fmla="*/ 2892355 h 2930115"/>
              <a:gd name="connsiteX16" fmla="*/ 3228499 w 11282409"/>
              <a:gd name="connsiteY16" fmla="*/ 2774714 h 2930115"/>
              <a:gd name="connsiteX17" fmla="*/ 3389267 w 11282409"/>
              <a:gd name="connsiteY17" fmla="*/ 2717676 h 2930115"/>
              <a:gd name="connsiteX18" fmla="*/ 3883942 w 11282409"/>
              <a:gd name="connsiteY18" fmla="*/ 2535866 h 2930115"/>
              <a:gd name="connsiteX19" fmla="*/ 3401634 w 11282409"/>
              <a:gd name="connsiteY19" fmla="*/ 2564386 h 2930115"/>
              <a:gd name="connsiteX20" fmla="*/ 4087994 w 11282409"/>
              <a:gd name="connsiteY20" fmla="*/ 2414660 h 2930115"/>
              <a:gd name="connsiteX21" fmla="*/ 4285864 w 11282409"/>
              <a:gd name="connsiteY21" fmla="*/ 2336233 h 2930115"/>
              <a:gd name="connsiteX22" fmla="*/ 4091088 w 11282409"/>
              <a:gd name="connsiteY22" fmla="*/ 2304149 h 2930115"/>
              <a:gd name="connsiteX23" fmla="*/ 3148114 w 11282409"/>
              <a:gd name="connsiteY23" fmla="*/ 2400401 h 2930115"/>
              <a:gd name="connsiteX24" fmla="*/ 3058455 w 11282409"/>
              <a:gd name="connsiteY24" fmla="*/ 2411095 h 2930115"/>
              <a:gd name="connsiteX25" fmla="*/ 2443203 w 11282409"/>
              <a:gd name="connsiteY25" fmla="*/ 2336233 h 2930115"/>
              <a:gd name="connsiteX26" fmla="*/ 2786383 w 11282409"/>
              <a:gd name="connsiteY26" fmla="*/ 2257805 h 2930115"/>
              <a:gd name="connsiteX27" fmla="*/ 2390644 w 11282409"/>
              <a:gd name="connsiteY27" fmla="*/ 2211461 h 2930115"/>
              <a:gd name="connsiteX28" fmla="*/ 1911429 w 11282409"/>
              <a:gd name="connsiteY28" fmla="*/ 2168683 h 2930115"/>
              <a:gd name="connsiteX29" fmla="*/ 1416755 w 11282409"/>
              <a:gd name="connsiteY29" fmla="*/ 2026087 h 2930115"/>
              <a:gd name="connsiteX30" fmla="*/ 1070483 w 11282409"/>
              <a:gd name="connsiteY30" fmla="*/ 1979743 h 2930115"/>
              <a:gd name="connsiteX31" fmla="*/ 1104491 w 11282409"/>
              <a:gd name="connsiteY31" fmla="*/ 1854972 h 2930115"/>
              <a:gd name="connsiteX32" fmla="*/ 1039566 w 11282409"/>
              <a:gd name="connsiteY32" fmla="*/ 1748026 h 2930115"/>
              <a:gd name="connsiteX33" fmla="*/ 1623900 w 11282409"/>
              <a:gd name="connsiteY33" fmla="*/ 1694553 h 2930115"/>
              <a:gd name="connsiteX34" fmla="*/ 1401296 w 11282409"/>
              <a:gd name="connsiteY34" fmla="*/ 1676728 h 2930115"/>
              <a:gd name="connsiteX35" fmla="*/ 1302362 w 11282409"/>
              <a:gd name="connsiteY35" fmla="*/ 1623255 h 2930115"/>
              <a:gd name="connsiteX36" fmla="*/ 1385838 w 11282409"/>
              <a:gd name="connsiteY36" fmla="*/ 1566216 h 2930115"/>
              <a:gd name="connsiteX37" fmla="*/ 1756843 w 11282409"/>
              <a:gd name="connsiteY37" fmla="*/ 1377277 h 2930115"/>
              <a:gd name="connsiteX38" fmla="*/ 721120 w 11282409"/>
              <a:gd name="connsiteY38" fmla="*/ 1387972 h 2930115"/>
              <a:gd name="connsiteX39" fmla="*/ 857154 w 11282409"/>
              <a:gd name="connsiteY39" fmla="*/ 1323803 h 2930115"/>
              <a:gd name="connsiteX40" fmla="*/ 2285525 w 11282409"/>
              <a:gd name="connsiteY40" fmla="*/ 924536 h 2930115"/>
              <a:gd name="connsiteX41" fmla="*/ 2569963 w 11282409"/>
              <a:gd name="connsiteY41" fmla="*/ 874628 h 2930115"/>
              <a:gd name="connsiteX42" fmla="*/ 1803218 w 11282409"/>
              <a:gd name="connsiteY42" fmla="*/ 856803 h 2930115"/>
              <a:gd name="connsiteX43" fmla="*/ 625276 w 11282409"/>
              <a:gd name="connsiteY43" fmla="*/ 682124 h 2930115"/>
              <a:gd name="connsiteX44" fmla="*/ 736578 w 11282409"/>
              <a:gd name="connsiteY44" fmla="*/ 521703 h 2930115"/>
              <a:gd name="connsiteX45" fmla="*/ 155336 w 11282409"/>
              <a:gd name="connsiteY45" fmla="*/ 550222 h 2930115"/>
              <a:gd name="connsiteX46" fmla="*/ 421223 w 11282409"/>
              <a:gd name="connsiteY46" fmla="*/ 425451 h 2930115"/>
              <a:gd name="connsiteX47" fmla="*/ 201712 w 11282409"/>
              <a:gd name="connsiteY47" fmla="*/ 404062 h 2930115"/>
              <a:gd name="connsiteX48" fmla="*/ 3843 w 11282409"/>
              <a:gd name="connsiteY48" fmla="*/ 314939 h 2930115"/>
              <a:gd name="connsiteX49" fmla="*/ 829329 w 11282409"/>
              <a:gd name="connsiteY49" fmla="*/ 175909 h 2930115"/>
              <a:gd name="connsiteX50" fmla="*/ 1045749 w 11282409"/>
              <a:gd name="connsiteY50" fmla="*/ 47572 h 2930115"/>
              <a:gd name="connsiteX51" fmla="*/ 1172509 w 11282409"/>
              <a:gd name="connsiteY51" fmla="*/ 11924 h 2930115"/>
              <a:gd name="connsiteX52" fmla="*/ 1257531 w 11282409"/>
              <a:gd name="connsiteY52" fmla="*/ 7914 h 293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1282409" h="2930115">
                <a:moveTo>
                  <a:pt x="1277174" y="0"/>
                </a:moveTo>
                <a:lnTo>
                  <a:pt x="11077320" y="0"/>
                </a:lnTo>
                <a:lnTo>
                  <a:pt x="10933044" y="93916"/>
                </a:lnTo>
                <a:cubicBezTo>
                  <a:pt x="10973237" y="147389"/>
                  <a:pt x="11059805" y="83222"/>
                  <a:pt x="11087630" y="165214"/>
                </a:cubicBezTo>
                <a:cubicBezTo>
                  <a:pt x="10865028" y="304245"/>
                  <a:pt x="10660974" y="478924"/>
                  <a:pt x="10401271" y="582307"/>
                </a:cubicBezTo>
                <a:cubicBezTo>
                  <a:pt x="10614599" y="507443"/>
                  <a:pt x="10827927" y="543093"/>
                  <a:pt x="11038163" y="511009"/>
                </a:cubicBezTo>
                <a:cubicBezTo>
                  <a:pt x="11065988" y="553787"/>
                  <a:pt x="11019613" y="553787"/>
                  <a:pt x="11004154" y="568047"/>
                </a:cubicBezTo>
                <a:cubicBezTo>
                  <a:pt x="10988696" y="582307"/>
                  <a:pt x="10967053" y="593001"/>
                  <a:pt x="10970146" y="625085"/>
                </a:cubicBezTo>
                <a:cubicBezTo>
                  <a:pt x="11065988" y="639345"/>
                  <a:pt x="11171107" y="589437"/>
                  <a:pt x="11270042" y="589437"/>
                </a:cubicBezTo>
                <a:lnTo>
                  <a:pt x="11270042" y="650039"/>
                </a:lnTo>
                <a:cubicBezTo>
                  <a:pt x="11236032" y="671428"/>
                  <a:pt x="11192750" y="678558"/>
                  <a:pt x="11177291" y="721337"/>
                </a:cubicBezTo>
                <a:cubicBezTo>
                  <a:pt x="11208207" y="714208"/>
                  <a:pt x="11239125" y="710643"/>
                  <a:pt x="11270042" y="703512"/>
                </a:cubicBezTo>
                <a:lnTo>
                  <a:pt x="11282409" y="703512"/>
                </a:lnTo>
                <a:lnTo>
                  <a:pt x="11282409" y="981574"/>
                </a:lnTo>
                <a:cubicBezTo>
                  <a:pt x="9254245" y="2952959"/>
                  <a:pt x="4397165" y="2906615"/>
                  <a:pt x="4053985" y="2928005"/>
                </a:cubicBezTo>
                <a:cubicBezTo>
                  <a:pt x="3945776" y="2935134"/>
                  <a:pt x="3491294" y="2924439"/>
                  <a:pt x="3386175" y="2892355"/>
                </a:cubicBezTo>
                <a:cubicBezTo>
                  <a:pt x="3243956" y="2853141"/>
                  <a:pt x="3228499" y="2774714"/>
                  <a:pt x="3228499" y="2774714"/>
                </a:cubicBezTo>
                <a:cubicBezTo>
                  <a:pt x="3228499" y="2774714"/>
                  <a:pt x="3299608" y="2742630"/>
                  <a:pt x="3389267" y="2717676"/>
                </a:cubicBezTo>
                <a:cubicBezTo>
                  <a:pt x="3562404" y="2667768"/>
                  <a:pt x="3704623" y="2575080"/>
                  <a:pt x="3883942" y="2535866"/>
                </a:cubicBezTo>
                <a:cubicBezTo>
                  <a:pt x="3723173" y="2546561"/>
                  <a:pt x="3562404" y="2553691"/>
                  <a:pt x="3401634" y="2564386"/>
                </a:cubicBezTo>
                <a:cubicBezTo>
                  <a:pt x="3624237" y="2468133"/>
                  <a:pt x="3859208" y="2453874"/>
                  <a:pt x="4087994" y="2414660"/>
                </a:cubicBezTo>
                <a:cubicBezTo>
                  <a:pt x="4162197" y="2403966"/>
                  <a:pt x="4285864" y="2436049"/>
                  <a:pt x="4285864" y="2336233"/>
                </a:cubicBezTo>
                <a:cubicBezTo>
                  <a:pt x="4282774" y="2272064"/>
                  <a:pt x="4162197" y="2300584"/>
                  <a:pt x="4091088" y="2304149"/>
                </a:cubicBezTo>
                <a:cubicBezTo>
                  <a:pt x="3775732" y="2314843"/>
                  <a:pt x="3463469" y="2361187"/>
                  <a:pt x="3148114" y="2400401"/>
                </a:cubicBezTo>
                <a:cubicBezTo>
                  <a:pt x="3117196" y="2403966"/>
                  <a:pt x="3080097" y="2421790"/>
                  <a:pt x="3058455" y="2411095"/>
                </a:cubicBezTo>
                <a:cubicBezTo>
                  <a:pt x="2879135" y="2339797"/>
                  <a:pt x="2675082" y="2357622"/>
                  <a:pt x="2443203" y="2336233"/>
                </a:cubicBezTo>
                <a:cubicBezTo>
                  <a:pt x="2569963" y="2254241"/>
                  <a:pt x="2678173" y="2311278"/>
                  <a:pt x="2786383" y="2257805"/>
                </a:cubicBezTo>
                <a:cubicBezTo>
                  <a:pt x="2653440" y="2200766"/>
                  <a:pt x="2517405" y="2225722"/>
                  <a:pt x="2390644" y="2211461"/>
                </a:cubicBezTo>
                <a:cubicBezTo>
                  <a:pt x="2297893" y="2200766"/>
                  <a:pt x="1963988" y="2186507"/>
                  <a:pt x="1911429" y="2168683"/>
                </a:cubicBezTo>
                <a:cubicBezTo>
                  <a:pt x="1750660" y="2115209"/>
                  <a:pt x="1558974" y="2122339"/>
                  <a:pt x="1416755" y="2026087"/>
                </a:cubicBezTo>
                <a:cubicBezTo>
                  <a:pt x="1314728" y="1958354"/>
                  <a:pt x="1178693" y="2015393"/>
                  <a:pt x="1070483" y="1979743"/>
                </a:cubicBezTo>
                <a:cubicBezTo>
                  <a:pt x="1024107" y="1929835"/>
                  <a:pt x="1089033" y="1894186"/>
                  <a:pt x="1104491" y="1854972"/>
                </a:cubicBezTo>
                <a:cubicBezTo>
                  <a:pt x="1126133" y="1805064"/>
                  <a:pt x="1067391" y="1794370"/>
                  <a:pt x="1039566" y="1748026"/>
                </a:cubicBezTo>
                <a:cubicBezTo>
                  <a:pt x="1231252" y="1751591"/>
                  <a:pt x="1413663" y="1737331"/>
                  <a:pt x="1623900" y="1694553"/>
                </a:cubicBezTo>
                <a:cubicBezTo>
                  <a:pt x="1537332" y="1630384"/>
                  <a:pt x="1463130" y="1690987"/>
                  <a:pt x="1401296" y="1676728"/>
                </a:cubicBezTo>
                <a:cubicBezTo>
                  <a:pt x="1358012" y="1666033"/>
                  <a:pt x="1302362" y="1676728"/>
                  <a:pt x="1302362" y="1623255"/>
                </a:cubicBezTo>
                <a:cubicBezTo>
                  <a:pt x="1302362" y="1580476"/>
                  <a:pt x="1351829" y="1573345"/>
                  <a:pt x="1385838" y="1566216"/>
                </a:cubicBezTo>
                <a:cubicBezTo>
                  <a:pt x="1518781" y="1541262"/>
                  <a:pt x="1648633" y="1509178"/>
                  <a:pt x="1756843" y="1377277"/>
                </a:cubicBezTo>
                <a:cubicBezTo>
                  <a:pt x="1407480" y="1334499"/>
                  <a:pt x="1048840" y="1502049"/>
                  <a:pt x="721120" y="1387972"/>
                </a:cubicBezTo>
                <a:cubicBezTo>
                  <a:pt x="748945" y="1313109"/>
                  <a:pt x="813871" y="1327368"/>
                  <a:pt x="857154" y="1323803"/>
                </a:cubicBezTo>
                <a:cubicBezTo>
                  <a:pt x="1147775" y="1291720"/>
                  <a:pt x="2127849" y="903147"/>
                  <a:pt x="2285525" y="924536"/>
                </a:cubicBezTo>
                <a:cubicBezTo>
                  <a:pt x="2381369" y="935231"/>
                  <a:pt x="2480304" y="928101"/>
                  <a:pt x="2569963" y="874628"/>
                </a:cubicBezTo>
                <a:cubicBezTo>
                  <a:pt x="2678173" y="810460"/>
                  <a:pt x="1988721" y="945926"/>
                  <a:pt x="1803218" y="856803"/>
                </a:cubicBezTo>
                <a:cubicBezTo>
                  <a:pt x="1713559" y="814024"/>
                  <a:pt x="956090" y="689253"/>
                  <a:pt x="625276" y="682124"/>
                </a:cubicBezTo>
                <a:cubicBezTo>
                  <a:pt x="656194" y="614390"/>
                  <a:pt x="770587" y="617955"/>
                  <a:pt x="736578" y="521703"/>
                </a:cubicBezTo>
                <a:cubicBezTo>
                  <a:pt x="557259" y="514574"/>
                  <a:pt x="365573" y="575176"/>
                  <a:pt x="155336" y="550222"/>
                </a:cubicBezTo>
                <a:cubicBezTo>
                  <a:pt x="229537" y="464666"/>
                  <a:pt x="337746" y="471795"/>
                  <a:pt x="421223" y="425451"/>
                </a:cubicBezTo>
                <a:cubicBezTo>
                  <a:pt x="356297" y="361283"/>
                  <a:pt x="275913" y="400497"/>
                  <a:pt x="201712" y="404062"/>
                </a:cubicBezTo>
                <a:cubicBezTo>
                  <a:pt x="136786" y="407627"/>
                  <a:pt x="-27075" y="318505"/>
                  <a:pt x="3843" y="314939"/>
                </a:cubicBezTo>
                <a:cubicBezTo>
                  <a:pt x="282096" y="293551"/>
                  <a:pt x="551076" y="197299"/>
                  <a:pt x="829329" y="175909"/>
                </a:cubicBezTo>
                <a:cubicBezTo>
                  <a:pt x="922080" y="168779"/>
                  <a:pt x="1027200" y="175909"/>
                  <a:pt x="1045749" y="47572"/>
                </a:cubicBezTo>
                <a:cubicBezTo>
                  <a:pt x="1048840" y="11924"/>
                  <a:pt x="1039566" y="4795"/>
                  <a:pt x="1172509" y="11924"/>
                </a:cubicBezTo>
                <a:cubicBezTo>
                  <a:pt x="1198789" y="13707"/>
                  <a:pt x="1228933" y="14598"/>
                  <a:pt x="1257531" y="7914"/>
                </a:cubicBezTo>
                <a:close/>
              </a:path>
            </a:pathLst>
          </a:custGeom>
          <a:solidFill>
            <a:srgbClr val="C34DB4">
              <a:alpha val="20000"/>
            </a:srgbClr>
          </a:solidFill>
          <a:ln w="32707" cap="flat">
            <a:noFill/>
            <a:prstDash val="solid"/>
            <a:miter/>
          </a:ln>
        </p:spPr>
        <p:txBody>
          <a:bodyPr wrap="square" rtlCol="0" anchor="ctr">
            <a:noAutofit/>
          </a:bodyPr>
          <a:lstStyle/>
          <a:p>
            <a:endParaRPr lang="en-US">
              <a:solidFill>
                <a:schemeClr val="tx1"/>
              </a:solidFill>
            </a:endParaRPr>
          </a:p>
        </p:txBody>
      </p:sp>
    </p:spTree>
    <p:extLst>
      <p:ext uri="{BB962C8B-B14F-4D97-AF65-F5344CB8AC3E}">
        <p14:creationId xmlns:p14="http://schemas.microsoft.com/office/powerpoint/2010/main" val="939059183"/>
      </p:ext>
    </p:extLst>
  </p:cSld>
  <p:clrMapOvr>
    <a:masterClrMapping/>
  </p:clrMapOvr>
</p:sld>
</file>

<file path=ppt/theme/theme1.xml><?xml version="1.0" encoding="utf-8"?>
<a:theme xmlns:a="http://schemas.openxmlformats.org/drawingml/2006/main" name="BrushVTI">
  <a:themeElements>
    <a:clrScheme name="AnalogousFromDarkSeedLeftStep">
      <a:dk1>
        <a:srgbClr val="000000"/>
      </a:dk1>
      <a:lt1>
        <a:srgbClr val="FFFFFF"/>
      </a:lt1>
      <a:dk2>
        <a:srgbClr val="1C2732"/>
      </a:dk2>
      <a:lt2>
        <a:srgbClr val="F0F3F1"/>
      </a:lt2>
      <a:accent1>
        <a:srgbClr val="C34DB4"/>
      </a:accent1>
      <a:accent2>
        <a:srgbClr val="903BB1"/>
      </a:accent2>
      <a:accent3>
        <a:srgbClr val="704DC3"/>
      </a:accent3>
      <a:accent4>
        <a:srgbClr val="3F4DB3"/>
      </a:accent4>
      <a:accent5>
        <a:srgbClr val="4D8CC3"/>
      </a:accent5>
      <a:accent6>
        <a:srgbClr val="3BACB1"/>
      </a:accent6>
      <a:hlink>
        <a:srgbClr val="3F6EBF"/>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E9F8D66-DC84-45A1-B9C3-EE71AD365B38}">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115</TotalTime>
  <Words>711</Words>
  <Application>Microsoft Office PowerPoint</Application>
  <PresentationFormat>Widescreen</PresentationFormat>
  <Paragraphs>77</Paragraphs>
  <Slides>19</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-apple-system</vt:lpstr>
      <vt:lpstr>Aptos</vt:lpstr>
      <vt:lpstr>Arial</vt:lpstr>
      <vt:lpstr>Century Gothic</vt:lpstr>
      <vt:lpstr>Elephant</vt:lpstr>
      <vt:lpstr>Segoe UI</vt:lpstr>
      <vt:lpstr>Times New Roman</vt:lpstr>
      <vt:lpstr>BrushVTI</vt:lpstr>
      <vt:lpstr>Bank Analytics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 veera</dc:creator>
  <cp:lastModifiedBy>bharath veera</cp:lastModifiedBy>
  <cp:revision>2</cp:revision>
  <dcterms:created xsi:type="dcterms:W3CDTF">2024-10-23T15:31:13Z</dcterms:created>
  <dcterms:modified xsi:type="dcterms:W3CDTF">2025-03-10T07:28:52Z</dcterms:modified>
</cp:coreProperties>
</file>